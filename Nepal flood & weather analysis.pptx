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69"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Mean discharge</c:v>
                </c:pt>
              </c:strCache>
            </c:strRef>
          </c:tx>
          <c:spPr>
            <a:solidFill>
              <a:srgbClr val="1D7A8C"/>
            </a:solidFill>
            <a:effectLst/>
          </c:spPr>
          <c:invertIfNegative val="0"/>
          <c:dLbls>
            <c:numFmt formatCode="0.0" sourceLinked="0"/>
            <c:spPr>
              <a:noFill/>
              <a:ln>
                <a:noFill/>
              </a:ln>
              <a:effectLst/>
            </c:spPr>
            <c:txPr>
              <a:bodyPr/>
              <a:lstStyle/>
              <a:p>
                <a:pPr>
                  <a:defRPr sz="1100" b="0" i="0" u="none" strike="noStrike">
                    <a:solidFill>
                      <a:srgbClr val="1B2B3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Kusum</c:v>
                </c:pt>
                <c:pt idx="1">
                  <c:v>Belsot</c:v>
                </c:pt>
                <c:pt idx="2">
                  <c:v>Chameliya</c:v>
                </c:pt>
                <c:pt idx="3">
                  <c:v>Bahrabise</c:v>
                </c:pt>
                <c:pt idx="4">
                  <c:v>Devghat</c:v>
                </c:pt>
                <c:pt idx="5">
                  <c:v>Khokana</c:v>
                </c:pt>
                <c:pt idx="6">
                  <c:v>Chatara</c:v>
                </c:pt>
                <c:pt idx="7">
                  <c:v>Rasuwagadhi</c:v>
                </c:pt>
                <c:pt idx="8">
                  <c:v>Chisapani</c:v>
                </c:pt>
                <c:pt idx="9">
                  <c:v>Bhada Br.</c:v>
                </c:pt>
              </c:strCache>
            </c:strRef>
          </c:cat>
          <c:val>
            <c:numRef>
              <c:f>Sheet1!$B$2:$B$11</c:f>
              <c:numCache>
                <c:formatCode>General</c:formatCode>
                <c:ptCount val="10"/>
                <c:pt idx="0">
                  <c:v>125.8</c:v>
                </c:pt>
                <c:pt idx="1">
                  <c:v>33</c:v>
                </c:pt>
                <c:pt idx="2">
                  <c:v>31.4</c:v>
                </c:pt>
                <c:pt idx="3">
                  <c:v>5.0999999999999996</c:v>
                </c:pt>
                <c:pt idx="4">
                  <c:v>2.2999999999999998</c:v>
                </c:pt>
                <c:pt idx="5">
                  <c:v>1.7</c:v>
                </c:pt>
                <c:pt idx="6">
                  <c:v>1.5</c:v>
                </c:pt>
                <c:pt idx="7">
                  <c:v>1.4</c:v>
                </c:pt>
                <c:pt idx="8">
                  <c:v>0.8</c:v>
                </c:pt>
                <c:pt idx="9">
                  <c:v>0.7</c:v>
                </c:pt>
              </c:numCache>
            </c:numRef>
          </c:val>
          <c:extLst>
            <c:ext xmlns:c16="http://schemas.microsoft.com/office/drawing/2014/chart" uri="{C3380CC4-5D6E-409C-BE32-E72D297353CC}">
              <c16:uniqueId val="{00000000-66B5-4DA8-9151-3064B7F3B424}"/>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F7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Correlation</c:v>
                </c:pt>
              </c:strCache>
            </c:strRef>
          </c:tx>
          <c:spPr>
            <a:solidFill>
              <a:srgbClr val="1D7A8C"/>
            </a:solidFill>
            <a:effectLst/>
          </c:spPr>
          <c:invertIfNegative val="0"/>
          <c:dLbls>
            <c:numFmt formatCode="0.00" sourceLinked="0"/>
            <c:spPr>
              <a:noFill/>
              <a:ln>
                <a:noFill/>
              </a:ln>
              <a:effectLst/>
            </c:spPr>
            <c:txPr>
              <a:bodyPr/>
              <a:lstStyle/>
              <a:p>
                <a:pPr>
                  <a:defRPr sz="1100" b="0" i="0" u="none" strike="noStrike">
                    <a:solidFill>
                      <a:srgbClr val="1B2B3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Dew point</c:v>
                </c:pt>
                <c:pt idx="1">
                  <c:v>Temperature</c:v>
                </c:pt>
                <c:pt idx="2">
                  <c:v>Humidity</c:v>
                </c:pt>
                <c:pt idx="3">
                  <c:v>Soil moisture</c:v>
                </c:pt>
                <c:pt idx="4">
                  <c:v>Precip. hours</c:v>
                </c:pt>
                <c:pt idx="5">
                  <c:v>Rain (mm)</c:v>
                </c:pt>
              </c:strCache>
            </c:strRef>
          </c:cat>
          <c:val>
            <c:numRef>
              <c:f>Sheet1!$B$2:$B$7</c:f>
              <c:numCache>
                <c:formatCode>General</c:formatCode>
                <c:ptCount val="6"/>
                <c:pt idx="0">
                  <c:v>0.22600000000000001</c:v>
                </c:pt>
                <c:pt idx="1">
                  <c:v>0.17799999999999999</c:v>
                </c:pt>
                <c:pt idx="2">
                  <c:v>0.17199999999999999</c:v>
                </c:pt>
                <c:pt idx="3">
                  <c:v>0.152</c:v>
                </c:pt>
                <c:pt idx="4">
                  <c:v>0.14499999999999999</c:v>
                </c:pt>
                <c:pt idx="5">
                  <c:v>0.1</c:v>
                </c:pt>
              </c:numCache>
            </c:numRef>
          </c:val>
          <c:extLst>
            <c:ext xmlns:c16="http://schemas.microsoft.com/office/drawing/2014/chart" uri="{C3380CC4-5D6E-409C-BE32-E72D297353CC}">
              <c16:uniqueId val="{00000000-AB1F-4BB6-8B8F-F7517A83B8C0}"/>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F7A"/>
                </a:solidFill>
                <a:latin typeface="+mn-lt"/>
              </a:defRPr>
            </a:pPr>
            <a:endParaRPr lang="en-US"/>
          </a:p>
        </c:txPr>
        <c:crossAx val="2094734552"/>
        <c:crosses val="autoZero"/>
        <c:auto val="1"/>
        <c:lblAlgn val="ctr"/>
        <c:lblOffset val="100"/>
        <c:noMultiLvlLbl val="1"/>
      </c:catAx>
      <c:valAx>
        <c:axId val="2094734552"/>
        <c:scaling>
          <c:orientation val="minMax"/>
          <c:max val="0.3"/>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1D7A8C"/>
            </a:solidFill>
            <a:effectLst/>
          </c:spPr>
          <c:invertIfNegative val="0"/>
          <c:dLbls>
            <c:numFmt formatCode="0.000" sourceLinked="0"/>
            <c:spPr>
              <a:noFill/>
              <a:ln>
                <a:noFill/>
              </a:ln>
              <a:effectLst/>
            </c:spPr>
            <c:txPr>
              <a:bodyPr/>
              <a:lstStyle/>
              <a:p>
                <a:pPr>
                  <a:defRPr sz="1100" b="0" i="0" u="none" strike="noStrike">
                    <a:solidFill>
                      <a:srgbClr val="1B2B3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river_discharge_m3s</c:v>
                </c:pt>
                <c:pt idx="1">
                  <c:v>rain_mm</c:v>
                </c:pt>
                <c:pt idx="2">
                  <c:v>temperature_mean_c</c:v>
                </c:pt>
                <c:pt idx="3">
                  <c:v>precipitation_mm</c:v>
                </c:pt>
                <c:pt idx="4">
                  <c:v>dew_point_mean_c</c:v>
                </c:pt>
                <c:pt idx="5">
                  <c:v>rain_lag1</c:v>
                </c:pt>
                <c:pt idx="6">
                  <c:v>precipitation_hours</c:v>
                </c:pt>
                <c:pt idx="7">
                  <c:v>soil_moisture</c:v>
                </c:pt>
                <c:pt idx="8">
                  <c:v>discharge_lag1</c:v>
                </c:pt>
                <c:pt idx="9">
                  <c:v>wind_gusts_max</c:v>
                </c:pt>
              </c:strCache>
            </c:strRef>
          </c:cat>
          <c:val>
            <c:numRef>
              <c:f>Sheet1!$B$2:$B$11</c:f>
              <c:numCache>
                <c:formatCode>General</c:formatCode>
                <c:ptCount val="10"/>
                <c:pt idx="0">
                  <c:v>0.82299999999999995</c:v>
                </c:pt>
                <c:pt idx="1">
                  <c:v>2.9000000000000001E-2</c:v>
                </c:pt>
                <c:pt idx="2">
                  <c:v>2.7E-2</c:v>
                </c:pt>
                <c:pt idx="3">
                  <c:v>2.4E-2</c:v>
                </c:pt>
                <c:pt idx="4">
                  <c:v>1.7999999999999999E-2</c:v>
                </c:pt>
                <c:pt idx="5">
                  <c:v>1.2E-2</c:v>
                </c:pt>
                <c:pt idx="6">
                  <c:v>1.0999999999999999E-2</c:v>
                </c:pt>
                <c:pt idx="7">
                  <c:v>8.9999999999999993E-3</c:v>
                </c:pt>
                <c:pt idx="8">
                  <c:v>8.0000000000000002E-3</c:v>
                </c:pt>
                <c:pt idx="9">
                  <c:v>6.0000000000000001E-3</c:v>
                </c:pt>
              </c:numCache>
            </c:numRef>
          </c:val>
          <c:extLst>
            <c:ext xmlns:c16="http://schemas.microsoft.com/office/drawing/2014/chart" uri="{C3380CC4-5D6E-409C-BE32-E72D297353CC}">
              <c16:uniqueId val="{00000000-BA39-4061-BC69-0B233636A4BB}"/>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F7A"/>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905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0EB4-FA7C-85C1-7B51-ED8EA6DD5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830EB-05AB-75D9-F724-55909DE2D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5ABE2-D142-7D8E-7AFB-92935D2FBC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E015B4-8F71-4162-823E-5925D53E0B6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72397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3C5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37160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3108960"/>
            <a:ext cx="7315200" cy="82296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3C5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371600"/>
          </a:xfrm>
          <a:prstGeom prst="rect">
            <a:avLst/>
          </a:prstGeom>
          <a:noFill/>
          <a:ln/>
        </p:spPr>
        <p:txBody>
          <a:bodyPr wrap="square" lIns="0" tIns="0" rIns="0" bIns="0" rtlCol="0" anchor="t"/>
          <a:lstStyle/>
          <a:p>
            <a:pPr marL="0" indent="0" algn="l">
              <a:buNone/>
            </a:pPr>
            <a:r>
              <a:rPr lang="en-US" sz="2600" b="1" dirty="0">
                <a:solidFill>
                  <a:schemeClr val="bg1"/>
                </a:solidFill>
              </a:rPr>
              <a:t>Nepal Flood &amp; Weather Analysis</a:t>
            </a:r>
            <a:br>
              <a:rPr lang="en-US" sz="2600" b="1" dirty="0">
                <a:solidFill>
                  <a:schemeClr val="bg1"/>
                </a:solidFill>
              </a:rPr>
            </a:br>
            <a:r>
              <a:rPr lang="en-US" sz="2600" b="1" dirty="0">
                <a:solidFill>
                  <a:schemeClr val="bg1"/>
                </a:solidFill>
              </a:rPr>
              <a:t>Next‑Day River Discharge and Weather Prediction</a:t>
            </a:r>
            <a:endParaRPr lang="en-US" sz="2600" dirty="0"/>
          </a:p>
        </p:txBody>
      </p:sp>
      <p:sp>
        <p:nvSpPr>
          <p:cNvPr id="3" name="Text 0"/>
          <p:cNvSpPr>
            <a:spLocks noGrp="1"/>
          </p:cNvSpPr>
          <p:nvPr>
            <p:ph type="body" idx="101" hasCustomPrompt="1"/>
          </p:nvPr>
        </p:nvSpPr>
        <p:spPr>
          <a:xfrm>
            <a:off x="548640" y="3108960"/>
            <a:ext cx="7315200" cy="822960"/>
          </a:xfrm>
          <a:prstGeom prst="rect">
            <a:avLst/>
          </a:prstGeom>
          <a:noFill/>
          <a:ln/>
        </p:spPr>
        <p:txBody>
          <a:bodyPr wrap="square" lIns="0" tIns="0" rIns="0" bIns="0" rtlCol="0" anchor="t"/>
          <a:lstStyle/>
          <a:p>
            <a:pPr marL="0" indent="0" algn="l">
              <a:buNone/>
            </a:pPr>
            <a:r>
              <a:rPr lang="en-US" sz="1800" dirty="0">
                <a:solidFill>
                  <a:schemeClr val="bg2"/>
                </a:solidFill>
              </a:rPr>
              <a:t>Machine learning for river monitoring and flood-risk assessment</a:t>
            </a:r>
            <a:endParaRPr lang="en-US" sz="1800" dirty="0"/>
          </a:p>
        </p:txBody>
      </p:sp>
      <p:sp>
        <p:nvSpPr>
          <p:cNvPr id="4" name="Text 2"/>
          <p:cNvSpPr txBox="1"/>
          <p:nvPr/>
        </p:nvSpPr>
        <p:spPr>
          <a:xfrm>
            <a:off x="548640" y="4297680"/>
            <a:ext cx="7315200" cy="365760"/>
          </a:xfrm>
          <a:prstGeom prst="rect">
            <a:avLst/>
          </a:prstGeom>
          <a:noFill/>
          <a:ln/>
        </p:spPr>
        <p:txBody>
          <a:bodyPr wrap="square" lIns="0" tIns="0" rIns="0" bIns="0" rtlCol="0" anchor="t"/>
          <a:lstStyle/>
          <a:p>
            <a:pPr marL="0" indent="0">
              <a:buNone/>
            </a:pPr>
            <a:r>
              <a:rPr lang="en-US" sz="1400" dirty="0">
                <a:solidFill>
                  <a:schemeClr val="accent2"/>
                </a:solidFill>
              </a:rPr>
              <a:t>Linear and Logistic Regression · Decision Tree · Random Forest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The dataset: 10 stations, daily records</a:t>
            </a:r>
            <a:endParaRPr lang="en-US" sz="2800" dirty="0"/>
          </a:p>
        </p:txBody>
      </p:sp>
      <p:sp>
        <p:nvSpPr>
          <p:cNvPr id="3" name="stat0"/>
          <p:cNvSpPr/>
          <p:nvPr/>
        </p:nvSpPr>
        <p:spPr>
          <a:xfrm>
            <a:off x="457200" y="1280160"/>
            <a:ext cx="1920240" cy="1463040"/>
          </a:xfrm>
          <a:prstGeom prst="rect">
            <a:avLst/>
          </a:prstGeom>
          <a:solidFill>
            <a:schemeClr val="bg2"/>
          </a:solidFill>
          <a:ln w="12700">
            <a:solidFill>
              <a:schemeClr val="bg2"/>
            </a:solidFill>
            <a:prstDash val="solid"/>
          </a:ln>
        </p:spPr>
      </p:sp>
      <p:sp>
        <p:nvSpPr>
          <p:cNvPr id="4" name="Text 2"/>
          <p:cNvSpPr txBox="1"/>
          <p:nvPr/>
        </p:nvSpPr>
        <p:spPr>
          <a:xfrm>
            <a:off x="594360" y="1417320"/>
            <a:ext cx="164592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13,390</a:t>
            </a:r>
            <a:endParaRPr lang="en-US" sz="3600" dirty="0"/>
          </a:p>
        </p:txBody>
      </p:sp>
      <p:sp>
        <p:nvSpPr>
          <p:cNvPr id="5" name="Text 3"/>
          <p:cNvSpPr txBox="1"/>
          <p:nvPr/>
        </p:nvSpPr>
        <p:spPr>
          <a:xfrm>
            <a:off x="594360" y="2103120"/>
            <a:ext cx="1645920" cy="548640"/>
          </a:xfrm>
          <a:prstGeom prst="rect">
            <a:avLst/>
          </a:prstGeom>
          <a:noFill/>
          <a:ln/>
        </p:spPr>
        <p:txBody>
          <a:bodyPr wrap="square" lIns="0" tIns="0" rIns="0" bIns="0" rtlCol="0" anchor="t"/>
          <a:lstStyle/>
          <a:p>
            <a:pPr marL="0" indent="0">
              <a:buNone/>
            </a:pPr>
            <a:r>
              <a:rPr lang="en-US" sz="1400" dirty="0">
                <a:solidFill>
                  <a:schemeClr val="tx1"/>
                </a:solidFill>
              </a:rPr>
              <a:t>daily records</a:t>
            </a:r>
            <a:endParaRPr lang="en-US" sz="1400" dirty="0"/>
          </a:p>
        </p:txBody>
      </p:sp>
      <p:sp>
        <p:nvSpPr>
          <p:cNvPr id="6" name="stat1"/>
          <p:cNvSpPr/>
          <p:nvPr/>
        </p:nvSpPr>
        <p:spPr>
          <a:xfrm>
            <a:off x="2560320" y="1280160"/>
            <a:ext cx="1920240" cy="1463040"/>
          </a:xfrm>
          <a:prstGeom prst="rect">
            <a:avLst/>
          </a:prstGeom>
          <a:solidFill>
            <a:schemeClr val="bg2"/>
          </a:solidFill>
          <a:ln w="12700">
            <a:solidFill>
              <a:schemeClr val="bg2"/>
            </a:solidFill>
            <a:prstDash val="solid"/>
          </a:ln>
        </p:spPr>
      </p:sp>
      <p:sp>
        <p:nvSpPr>
          <p:cNvPr id="7" name="Text 5"/>
          <p:cNvSpPr txBox="1"/>
          <p:nvPr/>
        </p:nvSpPr>
        <p:spPr>
          <a:xfrm>
            <a:off x="2697480" y="1417320"/>
            <a:ext cx="164592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8" name="Text 6"/>
          <p:cNvSpPr txBox="1"/>
          <p:nvPr/>
        </p:nvSpPr>
        <p:spPr>
          <a:xfrm>
            <a:off x="2697480" y="2103120"/>
            <a:ext cx="1645920" cy="548640"/>
          </a:xfrm>
          <a:prstGeom prst="rect">
            <a:avLst/>
          </a:prstGeom>
          <a:noFill/>
          <a:ln/>
        </p:spPr>
        <p:txBody>
          <a:bodyPr wrap="square" lIns="0" tIns="0" rIns="0" bIns="0" rtlCol="0" anchor="t"/>
          <a:lstStyle/>
          <a:p>
            <a:pPr marL="0" indent="0">
              <a:buNone/>
            </a:pPr>
            <a:r>
              <a:rPr lang="en-US" sz="1400" dirty="0">
                <a:solidFill>
                  <a:schemeClr val="tx1"/>
                </a:solidFill>
              </a:rPr>
              <a:t>river stations</a:t>
            </a:r>
            <a:endParaRPr lang="en-US" sz="1400" dirty="0"/>
          </a:p>
        </p:txBody>
      </p:sp>
      <p:sp>
        <p:nvSpPr>
          <p:cNvPr id="9" name="stat2"/>
          <p:cNvSpPr/>
          <p:nvPr/>
        </p:nvSpPr>
        <p:spPr>
          <a:xfrm>
            <a:off x="4663440" y="1280160"/>
            <a:ext cx="1920240" cy="1463040"/>
          </a:xfrm>
          <a:prstGeom prst="rect">
            <a:avLst/>
          </a:prstGeom>
          <a:solidFill>
            <a:schemeClr val="bg2"/>
          </a:solidFill>
          <a:ln w="12700">
            <a:solidFill>
              <a:schemeClr val="bg2"/>
            </a:solidFill>
            <a:prstDash val="solid"/>
          </a:ln>
        </p:spPr>
      </p:sp>
      <p:sp>
        <p:nvSpPr>
          <p:cNvPr id="10" name="Text 8"/>
          <p:cNvSpPr txBox="1"/>
          <p:nvPr/>
        </p:nvSpPr>
        <p:spPr>
          <a:xfrm>
            <a:off x="4800600" y="1417320"/>
            <a:ext cx="164592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19</a:t>
            </a:r>
            <a:endParaRPr lang="en-US" sz="3600" dirty="0"/>
          </a:p>
        </p:txBody>
      </p:sp>
      <p:sp>
        <p:nvSpPr>
          <p:cNvPr id="11" name="Text 9"/>
          <p:cNvSpPr txBox="1"/>
          <p:nvPr/>
        </p:nvSpPr>
        <p:spPr>
          <a:xfrm>
            <a:off x="4800600" y="2103120"/>
            <a:ext cx="1645920" cy="548640"/>
          </a:xfrm>
          <a:prstGeom prst="rect">
            <a:avLst/>
          </a:prstGeom>
          <a:noFill/>
          <a:ln/>
        </p:spPr>
        <p:txBody>
          <a:bodyPr wrap="square" lIns="0" tIns="0" rIns="0" bIns="0" rtlCol="0" anchor="t"/>
          <a:lstStyle/>
          <a:p>
            <a:pPr marL="0" indent="0">
              <a:buNone/>
            </a:pPr>
            <a:r>
              <a:rPr lang="en-US" sz="1400" dirty="0">
                <a:solidFill>
                  <a:schemeClr val="tx1"/>
                </a:solidFill>
              </a:rPr>
              <a:t>raw columns</a:t>
            </a:r>
            <a:endParaRPr lang="en-US" sz="1400" dirty="0"/>
          </a:p>
        </p:txBody>
      </p:sp>
      <p:sp>
        <p:nvSpPr>
          <p:cNvPr id="12" name="stat3"/>
          <p:cNvSpPr/>
          <p:nvPr/>
        </p:nvSpPr>
        <p:spPr>
          <a:xfrm>
            <a:off x="6766560" y="1280160"/>
            <a:ext cx="1920240" cy="1463040"/>
          </a:xfrm>
          <a:prstGeom prst="rect">
            <a:avLst/>
          </a:prstGeom>
          <a:solidFill>
            <a:schemeClr val="bg2"/>
          </a:solidFill>
          <a:ln w="12700">
            <a:solidFill>
              <a:schemeClr val="bg2"/>
            </a:solidFill>
            <a:prstDash val="solid"/>
          </a:ln>
        </p:spPr>
      </p:sp>
      <p:sp>
        <p:nvSpPr>
          <p:cNvPr id="13" name="Text 11"/>
          <p:cNvSpPr txBox="1"/>
          <p:nvPr/>
        </p:nvSpPr>
        <p:spPr>
          <a:xfrm>
            <a:off x="6903720" y="1417320"/>
            <a:ext cx="164592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0</a:t>
            </a:r>
            <a:endParaRPr lang="en-US" sz="3600" dirty="0"/>
          </a:p>
        </p:txBody>
      </p:sp>
      <p:sp>
        <p:nvSpPr>
          <p:cNvPr id="14" name="Text 12"/>
          <p:cNvSpPr txBox="1"/>
          <p:nvPr/>
        </p:nvSpPr>
        <p:spPr>
          <a:xfrm>
            <a:off x="6903720" y="2103120"/>
            <a:ext cx="1645920" cy="548640"/>
          </a:xfrm>
          <a:prstGeom prst="rect">
            <a:avLst/>
          </a:prstGeom>
          <a:noFill/>
          <a:ln/>
        </p:spPr>
        <p:txBody>
          <a:bodyPr wrap="square" lIns="0" tIns="0" rIns="0" bIns="0" rtlCol="0" anchor="t"/>
          <a:lstStyle/>
          <a:p>
            <a:pPr marL="0" indent="0">
              <a:buNone/>
            </a:pPr>
            <a:r>
              <a:rPr lang="en-US" sz="1400" dirty="0">
                <a:solidFill>
                  <a:schemeClr val="tx1"/>
                </a:solidFill>
              </a:rPr>
              <a:t>missing values or duplicates</a:t>
            </a:r>
            <a:endParaRPr lang="en-US" sz="1400" dirty="0"/>
          </a:p>
        </p:txBody>
      </p:sp>
      <p:sp>
        <p:nvSpPr>
          <p:cNvPr id="15" name="goal"/>
          <p:cNvSpPr/>
          <p:nvPr/>
        </p:nvSpPr>
        <p:spPr>
          <a:xfrm>
            <a:off x="457200" y="3017520"/>
            <a:ext cx="8229600" cy="1463040"/>
          </a:xfrm>
          <a:prstGeom prst="rect">
            <a:avLst/>
          </a:prstGeom>
          <a:solidFill>
            <a:schemeClr val="bg2"/>
          </a:solidFill>
          <a:ln w="12700">
            <a:solidFill>
              <a:schemeClr val="bg2"/>
            </a:solidFill>
            <a:prstDash val="solid"/>
          </a:ln>
        </p:spPr>
      </p:sp>
      <p:sp>
        <p:nvSpPr>
          <p:cNvPr id="16" name="Text 14"/>
          <p:cNvSpPr txBox="1"/>
          <p:nvPr/>
        </p:nvSpPr>
        <p:spPr>
          <a:xfrm>
            <a:off x="685800" y="3154680"/>
            <a:ext cx="1828800" cy="320040"/>
          </a:xfrm>
          <a:prstGeom prst="rect">
            <a:avLst/>
          </a:prstGeom>
          <a:noFill/>
          <a:ln/>
        </p:spPr>
        <p:txBody>
          <a:bodyPr wrap="square" lIns="0" tIns="0" rIns="0" bIns="0" rtlCol="0" anchor="t"/>
          <a:lstStyle/>
          <a:p>
            <a:pPr marL="0" indent="0">
              <a:buNone/>
            </a:pPr>
            <a:r>
              <a:rPr lang="en-US" sz="1600" b="1" dirty="0">
                <a:solidFill>
                  <a:schemeClr val="tx2"/>
                </a:solidFill>
              </a:rPr>
              <a:t>Objective</a:t>
            </a:r>
            <a:endParaRPr lang="en-US" sz="1600" dirty="0"/>
          </a:p>
        </p:txBody>
      </p:sp>
      <p:sp>
        <p:nvSpPr>
          <p:cNvPr id="17" name="Text 15"/>
          <p:cNvSpPr txBox="1"/>
          <p:nvPr/>
        </p:nvSpPr>
        <p:spPr>
          <a:xfrm>
            <a:off x="685800" y="3520440"/>
            <a:ext cx="7772400" cy="822960"/>
          </a:xfrm>
          <a:prstGeom prst="rect">
            <a:avLst/>
          </a:prstGeom>
          <a:noFill/>
          <a:ln/>
        </p:spPr>
        <p:txBody>
          <a:bodyPr wrap="square" lIns="0" tIns="0" rIns="0" bIns="0" rtlCol="0" anchor="t"/>
          <a:lstStyle/>
          <a:p>
            <a:pPr marL="0" indent="0">
              <a:buNone/>
            </a:pPr>
            <a:r>
              <a:rPr lang="en-US" sz="1500" dirty="0">
                <a:solidFill>
                  <a:schemeClr val="tx1"/>
                </a:solidFill>
              </a:rPr>
              <a:t>Predict next-day river discharge (m³/s) and next-day weather class (Cold, Cool, Warm or Hot) at each station from weather, soil moisture, and recent rainfall and flow history. Stations span the Narayani and Koshi basins, among others.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Project workflow : Next day river discharge</a:t>
            </a:r>
            <a:endParaRPr lang="en-US" sz="2800" dirty="0"/>
          </a:p>
        </p:txBody>
      </p:sp>
      <p:sp>
        <p:nvSpPr>
          <p:cNvPr id="3" name="wf0"/>
          <p:cNvSpPr/>
          <p:nvPr/>
        </p:nvSpPr>
        <p:spPr>
          <a:xfrm>
            <a:off x="457200" y="1280160"/>
            <a:ext cx="1554480" cy="2468880"/>
          </a:xfrm>
          <a:prstGeom prst="rect">
            <a:avLst/>
          </a:prstGeom>
          <a:solidFill>
            <a:schemeClr val="bg2"/>
          </a:solidFill>
          <a:ln w="12700">
            <a:solidFill>
              <a:schemeClr val="bg2"/>
            </a:solidFill>
            <a:prstDash val="solid"/>
          </a:ln>
        </p:spPr>
      </p:sp>
      <p:sp>
        <p:nvSpPr>
          <p:cNvPr id="4" name="Text 2"/>
          <p:cNvSpPr txBox="1"/>
          <p:nvPr/>
        </p:nvSpPr>
        <p:spPr>
          <a:xfrm>
            <a:off x="594360" y="1417320"/>
            <a:ext cx="12801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594360" y="2103120"/>
            <a:ext cx="1280160" cy="365760"/>
          </a:xfrm>
          <a:prstGeom prst="rect">
            <a:avLst/>
          </a:prstGeom>
          <a:noFill/>
          <a:ln/>
        </p:spPr>
        <p:txBody>
          <a:bodyPr wrap="square" lIns="0" tIns="0" rIns="0" bIns="0" rtlCol="0" anchor="t"/>
          <a:lstStyle/>
          <a:p>
            <a:pPr marL="0" indent="0">
              <a:buNone/>
            </a:pPr>
            <a:r>
              <a:rPr lang="en-US" sz="1700" b="1" dirty="0">
                <a:solidFill>
                  <a:schemeClr val="tx2"/>
                </a:solidFill>
              </a:rPr>
              <a:t>Explore</a:t>
            </a:r>
            <a:endParaRPr lang="en-US" sz="1700" dirty="0"/>
          </a:p>
        </p:txBody>
      </p:sp>
      <p:sp>
        <p:nvSpPr>
          <p:cNvPr id="6" name="Text 4"/>
          <p:cNvSpPr txBox="1"/>
          <p:nvPr/>
        </p:nvSpPr>
        <p:spPr>
          <a:xfrm>
            <a:off x="594360" y="2514600"/>
            <a:ext cx="1280160" cy="1143000"/>
          </a:xfrm>
          <a:prstGeom prst="rect">
            <a:avLst/>
          </a:prstGeom>
          <a:noFill/>
          <a:ln/>
        </p:spPr>
        <p:txBody>
          <a:bodyPr wrap="square" lIns="0" tIns="0" rIns="0" bIns="0" rtlCol="0" anchor="t"/>
          <a:lstStyle/>
          <a:p>
            <a:pPr marL="0" indent="0">
              <a:buNone/>
            </a:pPr>
            <a:r>
              <a:rPr lang="en-US" sz="1300" dirty="0">
                <a:solidFill>
                  <a:schemeClr val="tx1"/>
                </a:solidFill>
              </a:rPr>
              <a:t>Distributions, seasonality and correlations</a:t>
            </a:r>
            <a:endParaRPr lang="en-US" sz="1300" dirty="0"/>
          </a:p>
        </p:txBody>
      </p:sp>
      <p:sp>
        <p:nvSpPr>
          <p:cNvPr id="7" name="wf1"/>
          <p:cNvSpPr/>
          <p:nvPr/>
        </p:nvSpPr>
        <p:spPr>
          <a:xfrm>
            <a:off x="2125980" y="1280160"/>
            <a:ext cx="1554480" cy="2468880"/>
          </a:xfrm>
          <a:prstGeom prst="rect">
            <a:avLst/>
          </a:prstGeom>
          <a:solidFill>
            <a:schemeClr val="bg2"/>
          </a:solidFill>
          <a:ln w="12700">
            <a:solidFill>
              <a:schemeClr val="bg2"/>
            </a:solidFill>
            <a:prstDash val="solid"/>
          </a:ln>
        </p:spPr>
      </p:sp>
      <p:sp>
        <p:nvSpPr>
          <p:cNvPr id="8" name="Text 6"/>
          <p:cNvSpPr txBox="1"/>
          <p:nvPr/>
        </p:nvSpPr>
        <p:spPr>
          <a:xfrm>
            <a:off x="2263140" y="1417320"/>
            <a:ext cx="12801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9" name="Text 7"/>
          <p:cNvSpPr txBox="1"/>
          <p:nvPr/>
        </p:nvSpPr>
        <p:spPr>
          <a:xfrm>
            <a:off x="2263140" y="2103120"/>
            <a:ext cx="1280160" cy="365760"/>
          </a:xfrm>
          <a:prstGeom prst="rect">
            <a:avLst/>
          </a:prstGeom>
          <a:noFill/>
          <a:ln/>
        </p:spPr>
        <p:txBody>
          <a:bodyPr wrap="square" lIns="0" tIns="0" rIns="0" bIns="0" rtlCol="0" anchor="t"/>
          <a:lstStyle/>
          <a:p>
            <a:pPr marL="0" indent="0">
              <a:buNone/>
            </a:pPr>
            <a:r>
              <a:rPr lang="en-US" sz="1700" b="1" dirty="0">
                <a:solidFill>
                  <a:schemeClr val="tx2"/>
                </a:solidFill>
              </a:rPr>
              <a:t>Engineer</a:t>
            </a:r>
            <a:endParaRPr lang="en-US" sz="1700" dirty="0"/>
          </a:p>
        </p:txBody>
      </p:sp>
      <p:sp>
        <p:nvSpPr>
          <p:cNvPr id="10" name="Text 8"/>
          <p:cNvSpPr txBox="1"/>
          <p:nvPr/>
        </p:nvSpPr>
        <p:spPr>
          <a:xfrm>
            <a:off x="2263140" y="2514600"/>
            <a:ext cx="1280160" cy="1143000"/>
          </a:xfrm>
          <a:prstGeom prst="rect">
            <a:avLst/>
          </a:prstGeom>
          <a:noFill/>
          <a:ln/>
        </p:spPr>
        <p:txBody>
          <a:bodyPr wrap="square" lIns="0" tIns="0" rIns="0" bIns="0" rtlCol="0" anchor="t"/>
          <a:lstStyle/>
          <a:p>
            <a:pPr marL="0" indent="0">
              <a:buNone/>
            </a:pPr>
            <a:r>
              <a:rPr lang="en-US" sz="1300" dirty="0">
                <a:solidFill>
                  <a:schemeClr val="tx1"/>
                </a:solidFill>
              </a:rPr>
              <a:t>Rain lags, rolling rain, calendar features</a:t>
            </a:r>
            <a:endParaRPr lang="en-US" sz="1300" dirty="0"/>
          </a:p>
        </p:txBody>
      </p:sp>
      <p:sp>
        <p:nvSpPr>
          <p:cNvPr id="11" name="wf2"/>
          <p:cNvSpPr/>
          <p:nvPr/>
        </p:nvSpPr>
        <p:spPr>
          <a:xfrm>
            <a:off x="3794760" y="1280160"/>
            <a:ext cx="1554480" cy="2468880"/>
          </a:xfrm>
          <a:prstGeom prst="rect">
            <a:avLst/>
          </a:prstGeom>
          <a:solidFill>
            <a:schemeClr val="bg2"/>
          </a:solidFill>
          <a:ln w="12700">
            <a:solidFill>
              <a:schemeClr val="bg2"/>
            </a:solidFill>
            <a:prstDash val="solid"/>
          </a:ln>
        </p:spPr>
      </p:sp>
      <p:sp>
        <p:nvSpPr>
          <p:cNvPr id="12" name="Text 10"/>
          <p:cNvSpPr txBox="1"/>
          <p:nvPr/>
        </p:nvSpPr>
        <p:spPr>
          <a:xfrm>
            <a:off x="3931920" y="1417320"/>
            <a:ext cx="12801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3" name="Text 11"/>
          <p:cNvSpPr txBox="1"/>
          <p:nvPr/>
        </p:nvSpPr>
        <p:spPr>
          <a:xfrm>
            <a:off x="3931920" y="2103120"/>
            <a:ext cx="1280160" cy="365760"/>
          </a:xfrm>
          <a:prstGeom prst="rect">
            <a:avLst/>
          </a:prstGeom>
          <a:noFill/>
          <a:ln/>
        </p:spPr>
        <p:txBody>
          <a:bodyPr wrap="square" lIns="0" tIns="0" rIns="0" bIns="0" rtlCol="0" anchor="t"/>
          <a:lstStyle/>
          <a:p>
            <a:pPr marL="0" indent="0">
              <a:buNone/>
            </a:pPr>
            <a:r>
              <a:rPr lang="en-US" sz="1700" b="1" dirty="0">
                <a:solidFill>
                  <a:schemeClr val="tx2"/>
                </a:solidFill>
              </a:rPr>
              <a:t>Split</a:t>
            </a:r>
            <a:endParaRPr lang="en-US" sz="1700" dirty="0"/>
          </a:p>
        </p:txBody>
      </p:sp>
      <p:sp>
        <p:nvSpPr>
          <p:cNvPr id="14" name="Text 12"/>
          <p:cNvSpPr txBox="1"/>
          <p:nvPr/>
        </p:nvSpPr>
        <p:spPr>
          <a:xfrm>
            <a:off x="3931920" y="2514600"/>
            <a:ext cx="1280160" cy="1143000"/>
          </a:xfrm>
          <a:prstGeom prst="rect">
            <a:avLst/>
          </a:prstGeom>
          <a:noFill/>
          <a:ln/>
        </p:spPr>
        <p:txBody>
          <a:bodyPr wrap="square" lIns="0" tIns="0" rIns="0" bIns="0" rtlCol="0" anchor="t"/>
          <a:lstStyle/>
          <a:p>
            <a:pPr marL="0" indent="0">
              <a:buNone/>
            </a:pPr>
            <a:r>
              <a:rPr lang="en-US" sz="1300" dirty="0">
                <a:solidFill>
                  <a:schemeClr val="tx1"/>
                </a:solidFill>
              </a:rPr>
              <a:t>Earliest 80% of dates train, latest 20% test</a:t>
            </a:r>
            <a:endParaRPr lang="en-US" sz="1300" dirty="0"/>
          </a:p>
        </p:txBody>
      </p:sp>
      <p:sp>
        <p:nvSpPr>
          <p:cNvPr id="15" name="wf3"/>
          <p:cNvSpPr/>
          <p:nvPr/>
        </p:nvSpPr>
        <p:spPr>
          <a:xfrm>
            <a:off x="5463540" y="1280160"/>
            <a:ext cx="1554480" cy="2468880"/>
          </a:xfrm>
          <a:prstGeom prst="rect">
            <a:avLst/>
          </a:prstGeom>
          <a:solidFill>
            <a:schemeClr val="bg2"/>
          </a:solidFill>
          <a:ln w="12700">
            <a:solidFill>
              <a:schemeClr val="bg2"/>
            </a:solidFill>
            <a:prstDash val="solid"/>
          </a:ln>
        </p:spPr>
      </p:sp>
      <p:sp>
        <p:nvSpPr>
          <p:cNvPr id="16" name="Text 14"/>
          <p:cNvSpPr txBox="1"/>
          <p:nvPr/>
        </p:nvSpPr>
        <p:spPr>
          <a:xfrm>
            <a:off x="5600700" y="1417320"/>
            <a:ext cx="12801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17" name="Text 15"/>
          <p:cNvSpPr txBox="1"/>
          <p:nvPr/>
        </p:nvSpPr>
        <p:spPr>
          <a:xfrm>
            <a:off x="5600700" y="2103120"/>
            <a:ext cx="1280160" cy="365760"/>
          </a:xfrm>
          <a:prstGeom prst="rect">
            <a:avLst/>
          </a:prstGeom>
          <a:noFill/>
          <a:ln/>
        </p:spPr>
        <p:txBody>
          <a:bodyPr wrap="square" lIns="0" tIns="0" rIns="0" bIns="0" rtlCol="0" anchor="t"/>
          <a:lstStyle/>
          <a:p>
            <a:pPr marL="0" indent="0">
              <a:buNone/>
            </a:pPr>
            <a:r>
              <a:rPr lang="en-US" sz="1700" b="1" dirty="0">
                <a:solidFill>
                  <a:schemeClr val="tx2"/>
                </a:solidFill>
              </a:rPr>
              <a:t>Train</a:t>
            </a:r>
            <a:endParaRPr lang="en-US" sz="1700" dirty="0"/>
          </a:p>
        </p:txBody>
      </p:sp>
      <p:sp>
        <p:nvSpPr>
          <p:cNvPr id="18" name="Text 16"/>
          <p:cNvSpPr txBox="1"/>
          <p:nvPr/>
        </p:nvSpPr>
        <p:spPr>
          <a:xfrm>
            <a:off x="5600700" y="2514600"/>
            <a:ext cx="1280160" cy="1143000"/>
          </a:xfrm>
          <a:prstGeom prst="rect">
            <a:avLst/>
          </a:prstGeom>
          <a:noFill/>
          <a:ln/>
        </p:spPr>
        <p:txBody>
          <a:bodyPr wrap="square" lIns="0" tIns="0" rIns="0" bIns="0" rtlCol="0" anchor="t"/>
          <a:lstStyle/>
          <a:p>
            <a:pPr marL="0" indent="0">
              <a:buNone/>
            </a:pPr>
            <a:r>
              <a:rPr lang="en-US" sz="1300" dirty="0">
                <a:solidFill>
                  <a:schemeClr val="tx1"/>
                </a:solidFill>
              </a:rPr>
              <a:t>Linear Regression, Decision Tree, Random Forest</a:t>
            </a:r>
            <a:endParaRPr lang="en-US" sz="1300" dirty="0"/>
          </a:p>
        </p:txBody>
      </p:sp>
      <p:sp>
        <p:nvSpPr>
          <p:cNvPr id="19" name="wf4"/>
          <p:cNvSpPr/>
          <p:nvPr/>
        </p:nvSpPr>
        <p:spPr>
          <a:xfrm>
            <a:off x="7132320" y="1280160"/>
            <a:ext cx="1554480" cy="2468880"/>
          </a:xfrm>
          <a:prstGeom prst="rect">
            <a:avLst/>
          </a:prstGeom>
          <a:solidFill>
            <a:schemeClr val="bg2"/>
          </a:solidFill>
          <a:ln w="12700">
            <a:solidFill>
              <a:schemeClr val="bg2"/>
            </a:solidFill>
            <a:prstDash val="solid"/>
          </a:ln>
        </p:spPr>
      </p:sp>
      <p:sp>
        <p:nvSpPr>
          <p:cNvPr id="20" name="Text 18"/>
          <p:cNvSpPr txBox="1"/>
          <p:nvPr/>
        </p:nvSpPr>
        <p:spPr>
          <a:xfrm>
            <a:off x="7269480" y="1417320"/>
            <a:ext cx="12801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21" name="Text 19"/>
          <p:cNvSpPr txBox="1"/>
          <p:nvPr/>
        </p:nvSpPr>
        <p:spPr>
          <a:xfrm>
            <a:off x="7269480" y="2103120"/>
            <a:ext cx="1280160" cy="365760"/>
          </a:xfrm>
          <a:prstGeom prst="rect">
            <a:avLst/>
          </a:prstGeom>
          <a:noFill/>
          <a:ln/>
        </p:spPr>
        <p:txBody>
          <a:bodyPr wrap="square" lIns="0" tIns="0" rIns="0" bIns="0" rtlCol="0" anchor="t"/>
          <a:lstStyle/>
          <a:p>
            <a:pPr marL="0" indent="0">
              <a:buNone/>
            </a:pPr>
            <a:r>
              <a:rPr lang="en-US" sz="1700" b="1" dirty="0">
                <a:solidFill>
                  <a:schemeClr val="tx2"/>
                </a:solidFill>
              </a:rPr>
              <a:t>Evaluate</a:t>
            </a:r>
            <a:endParaRPr lang="en-US" sz="1700" dirty="0"/>
          </a:p>
        </p:txBody>
      </p:sp>
      <p:sp>
        <p:nvSpPr>
          <p:cNvPr id="22" name="Text 20"/>
          <p:cNvSpPr txBox="1"/>
          <p:nvPr/>
        </p:nvSpPr>
        <p:spPr>
          <a:xfrm>
            <a:off x="7269480" y="2514600"/>
            <a:ext cx="1280160" cy="1143000"/>
          </a:xfrm>
          <a:prstGeom prst="rect">
            <a:avLst/>
          </a:prstGeom>
          <a:noFill/>
          <a:ln/>
        </p:spPr>
        <p:txBody>
          <a:bodyPr wrap="square" lIns="0" tIns="0" rIns="0" bIns="0" rtlCol="0" anchor="t"/>
          <a:lstStyle/>
          <a:p>
            <a:pPr marL="0" indent="0">
              <a:buNone/>
            </a:pPr>
            <a:r>
              <a:rPr lang="en-US" sz="1300" dirty="0">
                <a:solidFill>
                  <a:schemeClr val="tx1"/>
                </a:solidFill>
              </a:rPr>
              <a:t>MAE, RMSE and R² against a baseline</a:t>
            </a:r>
            <a:endParaRPr lang="en-US" sz="1300" dirty="0"/>
          </a:p>
        </p:txBody>
      </p:sp>
      <p:sp>
        <p:nvSpPr>
          <p:cNvPr id="23" name="target"/>
          <p:cNvSpPr/>
          <p:nvPr/>
        </p:nvSpPr>
        <p:spPr>
          <a:xfrm>
            <a:off x="457200" y="3977640"/>
            <a:ext cx="8229600" cy="548640"/>
          </a:xfrm>
          <a:prstGeom prst="rect">
            <a:avLst/>
          </a:prstGeom>
          <a:solidFill>
            <a:schemeClr val="tx2"/>
          </a:solidFill>
          <a:ln w="12700">
            <a:solidFill>
              <a:schemeClr val="tx2"/>
            </a:solidFill>
            <a:prstDash val="solid"/>
          </a:ln>
        </p:spPr>
      </p:sp>
      <p:sp>
        <p:nvSpPr>
          <p:cNvPr id="24" name="Text 22"/>
          <p:cNvSpPr txBox="1"/>
          <p:nvPr/>
        </p:nvSpPr>
        <p:spPr>
          <a:xfrm>
            <a:off x="640080" y="3977640"/>
            <a:ext cx="7863840" cy="548640"/>
          </a:xfrm>
          <a:prstGeom prst="rect">
            <a:avLst/>
          </a:prstGeom>
          <a:noFill/>
          <a:ln/>
        </p:spPr>
        <p:txBody>
          <a:bodyPr wrap="square" lIns="0" tIns="0" rIns="0" bIns="0" rtlCol="0" anchor="ctr"/>
          <a:lstStyle/>
          <a:p>
            <a:pPr marL="0" indent="0">
              <a:buNone/>
            </a:pPr>
            <a:r>
              <a:rPr lang="en-US" sz="1400" dirty="0">
                <a:solidFill>
                  <a:schemeClr val="bg1"/>
                </a:solidFill>
              </a:rPr>
              <a:t>Target: next_day_discharge, the next day's discharge shifted within each station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Discharge is extremely skewed</a:t>
            </a:r>
            <a:endParaRPr lang="en-US" sz="2800" dirty="0"/>
          </a:p>
        </p:txBody>
      </p:sp>
      <p:sp>
        <p:nvSpPr>
          <p:cNvPr id="3" name="sk0"/>
          <p:cNvSpPr/>
          <p:nvPr/>
        </p:nvSpPr>
        <p:spPr>
          <a:xfrm>
            <a:off x="457200" y="1280160"/>
            <a:ext cx="2560320" cy="914400"/>
          </a:xfrm>
          <a:prstGeom prst="rect">
            <a:avLst/>
          </a:prstGeom>
          <a:solidFill>
            <a:schemeClr val="bg2"/>
          </a:solidFill>
          <a:ln w="12700">
            <a:solidFill>
              <a:schemeClr val="bg2"/>
            </a:solidFill>
            <a:prstDash val="solid"/>
          </a:ln>
        </p:spPr>
      </p:sp>
      <p:sp>
        <p:nvSpPr>
          <p:cNvPr id="4" name="Text 2"/>
          <p:cNvSpPr txBox="1"/>
          <p:nvPr/>
        </p:nvSpPr>
        <p:spPr>
          <a:xfrm>
            <a:off x="640080" y="1371600"/>
            <a:ext cx="137160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1.88</a:t>
            </a:r>
            <a:endParaRPr lang="en-US" sz="3000" dirty="0"/>
          </a:p>
        </p:txBody>
      </p:sp>
      <p:sp>
        <p:nvSpPr>
          <p:cNvPr id="5" name="Text 3"/>
          <p:cNvSpPr txBox="1"/>
          <p:nvPr/>
        </p:nvSpPr>
        <p:spPr>
          <a:xfrm>
            <a:off x="1828800" y="1371600"/>
            <a:ext cx="1143000" cy="731520"/>
          </a:xfrm>
          <a:prstGeom prst="rect">
            <a:avLst/>
          </a:prstGeom>
          <a:noFill/>
          <a:ln/>
        </p:spPr>
        <p:txBody>
          <a:bodyPr wrap="square" lIns="0" tIns="0" rIns="0" bIns="0" rtlCol="0" anchor="ctr"/>
          <a:lstStyle/>
          <a:p>
            <a:pPr marL="0" indent="0">
              <a:buNone/>
            </a:pPr>
            <a:r>
              <a:rPr lang="en-US" sz="1300" dirty="0">
                <a:solidFill>
                  <a:schemeClr val="tx1"/>
                </a:solidFill>
              </a:rPr>
              <a:t>median m³/s</a:t>
            </a:r>
            <a:endParaRPr lang="en-US" sz="1300" dirty="0"/>
          </a:p>
        </p:txBody>
      </p:sp>
      <p:sp>
        <p:nvSpPr>
          <p:cNvPr id="6" name="sk1"/>
          <p:cNvSpPr/>
          <p:nvPr/>
        </p:nvSpPr>
        <p:spPr>
          <a:xfrm>
            <a:off x="457200" y="2331720"/>
            <a:ext cx="2560320" cy="914400"/>
          </a:xfrm>
          <a:prstGeom prst="rect">
            <a:avLst/>
          </a:prstGeom>
          <a:solidFill>
            <a:schemeClr val="bg2"/>
          </a:solidFill>
          <a:ln w="12700">
            <a:solidFill>
              <a:schemeClr val="bg2"/>
            </a:solidFill>
            <a:prstDash val="solid"/>
          </a:ln>
        </p:spPr>
      </p:sp>
      <p:sp>
        <p:nvSpPr>
          <p:cNvPr id="7" name="Text 5"/>
          <p:cNvSpPr txBox="1"/>
          <p:nvPr/>
        </p:nvSpPr>
        <p:spPr>
          <a:xfrm>
            <a:off x="640080" y="2423160"/>
            <a:ext cx="137160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20.4</a:t>
            </a:r>
            <a:endParaRPr lang="en-US" sz="3000" dirty="0"/>
          </a:p>
        </p:txBody>
      </p:sp>
      <p:sp>
        <p:nvSpPr>
          <p:cNvPr id="8" name="Text 6"/>
          <p:cNvSpPr txBox="1"/>
          <p:nvPr/>
        </p:nvSpPr>
        <p:spPr>
          <a:xfrm>
            <a:off x="1828800" y="2423160"/>
            <a:ext cx="1143000" cy="731520"/>
          </a:xfrm>
          <a:prstGeom prst="rect">
            <a:avLst/>
          </a:prstGeom>
          <a:noFill/>
          <a:ln/>
        </p:spPr>
        <p:txBody>
          <a:bodyPr wrap="square" lIns="0" tIns="0" rIns="0" bIns="0" rtlCol="0" anchor="ctr"/>
          <a:lstStyle/>
          <a:p>
            <a:pPr marL="0" indent="0">
              <a:buNone/>
            </a:pPr>
            <a:r>
              <a:rPr lang="en-US" sz="1300" dirty="0">
                <a:solidFill>
                  <a:schemeClr val="tx1"/>
                </a:solidFill>
              </a:rPr>
              <a:t>mean m³/s</a:t>
            </a:r>
            <a:endParaRPr lang="en-US" sz="1300" dirty="0"/>
          </a:p>
        </p:txBody>
      </p:sp>
      <p:sp>
        <p:nvSpPr>
          <p:cNvPr id="9" name="sk2"/>
          <p:cNvSpPr/>
          <p:nvPr/>
        </p:nvSpPr>
        <p:spPr>
          <a:xfrm>
            <a:off x="457200" y="3383280"/>
            <a:ext cx="2560320" cy="914400"/>
          </a:xfrm>
          <a:prstGeom prst="rect">
            <a:avLst/>
          </a:prstGeom>
          <a:solidFill>
            <a:schemeClr val="bg2"/>
          </a:solidFill>
          <a:ln w="12700">
            <a:solidFill>
              <a:schemeClr val="bg2"/>
            </a:solidFill>
            <a:prstDash val="solid"/>
          </a:ln>
        </p:spPr>
      </p:sp>
      <p:sp>
        <p:nvSpPr>
          <p:cNvPr id="10" name="Text 8"/>
          <p:cNvSpPr txBox="1"/>
          <p:nvPr/>
        </p:nvSpPr>
        <p:spPr>
          <a:xfrm>
            <a:off x="640080" y="3474720"/>
            <a:ext cx="137160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3,176</a:t>
            </a:r>
            <a:endParaRPr lang="en-US" sz="3000" dirty="0"/>
          </a:p>
        </p:txBody>
      </p:sp>
      <p:sp>
        <p:nvSpPr>
          <p:cNvPr id="11" name="Text 9"/>
          <p:cNvSpPr txBox="1"/>
          <p:nvPr/>
        </p:nvSpPr>
        <p:spPr>
          <a:xfrm>
            <a:off x="1828800" y="3474720"/>
            <a:ext cx="1143000" cy="731520"/>
          </a:xfrm>
          <a:prstGeom prst="rect">
            <a:avLst/>
          </a:prstGeom>
          <a:noFill/>
          <a:ln/>
        </p:spPr>
        <p:txBody>
          <a:bodyPr wrap="square" lIns="0" tIns="0" rIns="0" bIns="0" rtlCol="0" anchor="ctr"/>
          <a:lstStyle/>
          <a:p>
            <a:pPr marL="0" indent="0">
              <a:buNone/>
            </a:pPr>
            <a:r>
              <a:rPr lang="en-US" sz="1300" dirty="0">
                <a:solidFill>
                  <a:schemeClr val="tx1"/>
                </a:solidFill>
              </a:rPr>
              <a:t>max m³/s</a:t>
            </a:r>
            <a:endParaRPr lang="en-US" sz="1300" dirty="0"/>
          </a:p>
        </p:txBody>
      </p:sp>
      <p:sp>
        <p:nvSpPr>
          <p:cNvPr id="12" name="Text 10"/>
          <p:cNvSpPr txBox="1"/>
          <p:nvPr/>
        </p:nvSpPr>
        <p:spPr>
          <a:xfrm>
            <a:off x="3383280" y="1234440"/>
            <a:ext cx="5303520" cy="274320"/>
          </a:xfrm>
          <a:prstGeom prst="rect">
            <a:avLst/>
          </a:prstGeom>
          <a:noFill/>
          <a:ln/>
        </p:spPr>
        <p:txBody>
          <a:bodyPr wrap="square" lIns="0" tIns="0" rIns="0" bIns="0" rtlCol="0" anchor="t"/>
          <a:lstStyle/>
          <a:p>
            <a:pPr marL="0" indent="0">
              <a:buNone/>
            </a:pPr>
            <a:r>
              <a:rPr lang="en-US" sz="1400" b="1" dirty="0">
                <a:solidFill>
                  <a:schemeClr val="tx2"/>
                </a:solidFill>
              </a:rPr>
              <a:t>Mean discharge by station (m³/s)</a:t>
            </a:r>
            <a:endParaRPr lang="en-US" sz="1400" dirty="0"/>
          </a:p>
        </p:txBody>
      </p:sp>
      <p:graphicFrame>
        <p:nvGraphicFramePr>
          <p:cNvPr id="13" name="Chart 0"/>
          <p:cNvGraphicFramePr/>
          <p:nvPr/>
        </p:nvGraphicFramePr>
        <p:xfrm>
          <a:off x="3291840" y="1554480"/>
          <a:ext cx="53949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txBox="1"/>
          <p:nvPr/>
        </p:nvSpPr>
        <p:spPr>
          <a:xfrm>
            <a:off x="457200" y="4526280"/>
            <a:ext cx="7680960" cy="274320"/>
          </a:xfrm>
          <a:prstGeom prst="rect">
            <a:avLst/>
          </a:prstGeom>
          <a:noFill/>
          <a:ln/>
        </p:spPr>
        <p:txBody>
          <a:bodyPr wrap="square" lIns="0" tIns="0" rIns="0" bIns="0" rtlCol="0" anchor="t"/>
          <a:lstStyle/>
          <a:p>
            <a:pPr marL="0" indent="0">
              <a:buNone/>
            </a:pPr>
            <a:r>
              <a:rPr lang="en-US" sz="1200" dirty="0">
                <a:solidFill>
                  <a:srgbClr val="5C6F7A"/>
                </a:solidFill>
              </a:rPr>
              <a:t>Kusum alone averages 4× the next station. Discharge is log-transformed for plotting.</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The monsoon drives the flow</a:t>
            </a:r>
            <a:endParaRPr lang="en-US" sz="2800" dirty="0"/>
          </a:p>
        </p:txBody>
      </p:sp>
      <p:pic>
        <p:nvPicPr>
          <p:cNvPr id="3" name="Image 0" descr="Average river discharge by month"/>
          <p:cNvPicPr>
            <a:picLocks noChangeAspect="1"/>
          </p:cNvPicPr>
          <p:nvPr/>
        </p:nvPicPr>
        <p:blipFill>
          <a:blip r:embed="rId3"/>
          <a:stretch>
            <a:fillRect/>
          </a:stretch>
        </p:blipFill>
        <p:spPr>
          <a:xfrm>
            <a:off x="457200" y="1188720"/>
            <a:ext cx="4663440" cy="3218688"/>
          </a:xfrm>
          <a:prstGeom prst="rect">
            <a:avLst/>
          </a:prstGeom>
        </p:spPr>
      </p:pic>
      <p:sp>
        <p:nvSpPr>
          <p:cNvPr id="4" name="pt0"/>
          <p:cNvSpPr/>
          <p:nvPr/>
        </p:nvSpPr>
        <p:spPr>
          <a:xfrm>
            <a:off x="5394960" y="1188720"/>
            <a:ext cx="3291840" cy="960120"/>
          </a:xfrm>
          <a:prstGeom prst="rect">
            <a:avLst/>
          </a:prstGeom>
          <a:solidFill>
            <a:schemeClr val="bg2"/>
          </a:solidFill>
          <a:ln w="12700">
            <a:solidFill>
              <a:schemeClr val="bg2"/>
            </a:solidFill>
            <a:prstDash val="solid"/>
          </a:ln>
        </p:spPr>
      </p:sp>
      <p:sp>
        <p:nvSpPr>
          <p:cNvPr id="5" name="Text 2"/>
          <p:cNvSpPr txBox="1"/>
          <p:nvPr/>
        </p:nvSpPr>
        <p:spPr>
          <a:xfrm>
            <a:off x="5532120" y="1280160"/>
            <a:ext cx="3017520" cy="777240"/>
          </a:xfrm>
          <a:prstGeom prst="rect">
            <a:avLst/>
          </a:prstGeom>
          <a:noFill/>
          <a:ln/>
        </p:spPr>
        <p:txBody>
          <a:bodyPr wrap="square" lIns="0" tIns="0" rIns="0" bIns="0" rtlCol="0" anchor="ctr"/>
          <a:lstStyle/>
          <a:p>
            <a:pPr marL="0" indent="0">
              <a:buNone/>
            </a:pPr>
            <a:r>
              <a:rPr lang="en-US" sz="1400" dirty="0">
                <a:solidFill>
                  <a:schemeClr val="tx1"/>
                </a:solidFill>
              </a:rPr>
              <a:t>July to September carry the highest flows; August averages about 73 m³/s.</a:t>
            </a:r>
            <a:endParaRPr lang="en-US" sz="1400" dirty="0"/>
          </a:p>
        </p:txBody>
      </p:sp>
      <p:sp>
        <p:nvSpPr>
          <p:cNvPr id="6" name="pt1"/>
          <p:cNvSpPr/>
          <p:nvPr/>
        </p:nvSpPr>
        <p:spPr>
          <a:xfrm>
            <a:off x="5394960" y="2286000"/>
            <a:ext cx="3291840" cy="960120"/>
          </a:xfrm>
          <a:prstGeom prst="rect">
            <a:avLst/>
          </a:prstGeom>
          <a:solidFill>
            <a:schemeClr val="bg2"/>
          </a:solidFill>
          <a:ln w="12700">
            <a:solidFill>
              <a:schemeClr val="bg2"/>
            </a:solidFill>
            <a:prstDash val="solid"/>
          </a:ln>
        </p:spPr>
      </p:sp>
      <p:sp>
        <p:nvSpPr>
          <p:cNvPr id="7" name="Text 4"/>
          <p:cNvSpPr txBox="1"/>
          <p:nvPr/>
        </p:nvSpPr>
        <p:spPr>
          <a:xfrm>
            <a:off x="5532120" y="2377440"/>
            <a:ext cx="3017520" cy="777240"/>
          </a:xfrm>
          <a:prstGeom prst="rect">
            <a:avLst/>
          </a:prstGeom>
          <a:noFill/>
          <a:ln/>
        </p:spPr>
        <p:txBody>
          <a:bodyPr wrap="square" lIns="0" tIns="0" rIns="0" bIns="0" rtlCol="0" anchor="ctr"/>
          <a:lstStyle/>
          <a:p>
            <a:pPr marL="0" indent="0">
              <a:buNone/>
            </a:pPr>
            <a:r>
              <a:rPr lang="en-US" sz="1400" dirty="0">
                <a:solidFill>
                  <a:schemeClr val="tx1"/>
                </a:solidFill>
              </a:rPr>
              <a:t>December to May stay near 3 to 5 m³/s.</a:t>
            </a:r>
            <a:endParaRPr lang="en-US" sz="1400" dirty="0"/>
          </a:p>
        </p:txBody>
      </p:sp>
      <p:sp>
        <p:nvSpPr>
          <p:cNvPr id="8" name="pt2"/>
          <p:cNvSpPr/>
          <p:nvPr/>
        </p:nvSpPr>
        <p:spPr>
          <a:xfrm>
            <a:off x="5394960" y="3383280"/>
            <a:ext cx="3291840" cy="960120"/>
          </a:xfrm>
          <a:prstGeom prst="rect">
            <a:avLst/>
          </a:prstGeom>
          <a:solidFill>
            <a:schemeClr val="bg2"/>
          </a:solidFill>
          <a:ln w="12700">
            <a:solidFill>
              <a:schemeClr val="bg2"/>
            </a:solidFill>
            <a:prstDash val="solid"/>
          </a:ln>
        </p:spPr>
      </p:sp>
      <p:sp>
        <p:nvSpPr>
          <p:cNvPr id="9" name="Text 6"/>
          <p:cNvSpPr txBox="1"/>
          <p:nvPr/>
        </p:nvSpPr>
        <p:spPr>
          <a:xfrm>
            <a:off x="5532120" y="3474720"/>
            <a:ext cx="3017520" cy="777240"/>
          </a:xfrm>
          <a:prstGeom prst="rect">
            <a:avLst/>
          </a:prstGeom>
          <a:noFill/>
          <a:ln/>
        </p:spPr>
        <p:txBody>
          <a:bodyPr wrap="square" lIns="0" tIns="0" rIns="0" bIns="0" rtlCol="0" anchor="ctr"/>
          <a:lstStyle/>
          <a:p>
            <a:pPr marL="0" indent="0">
              <a:buNone/>
            </a:pPr>
            <a:r>
              <a:rPr lang="en-US" sz="1400" dirty="0">
                <a:solidFill>
                  <a:schemeClr val="tx1"/>
                </a:solidFill>
              </a:rPr>
              <a:t>All of the 10 largest readings are at Kusum, peaking at 3,175.87 m³/s on 28 Sep 2024.</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Same-day weather is only a weak signal</a:t>
            </a:r>
            <a:endParaRPr lang="en-US" sz="2800" dirty="0"/>
          </a:p>
        </p:txBody>
      </p:sp>
      <p:sp>
        <p:nvSpPr>
          <p:cNvPr id="3" name="Text 1"/>
          <p:cNvSpPr txBox="1"/>
          <p:nvPr/>
        </p:nvSpPr>
        <p:spPr>
          <a:xfrm>
            <a:off x="457200" y="1188720"/>
            <a:ext cx="4572000" cy="274320"/>
          </a:xfrm>
          <a:prstGeom prst="rect">
            <a:avLst/>
          </a:prstGeom>
          <a:noFill/>
          <a:ln/>
        </p:spPr>
        <p:txBody>
          <a:bodyPr wrap="square" lIns="0" tIns="0" rIns="0" bIns="0" rtlCol="0" anchor="t"/>
          <a:lstStyle/>
          <a:p>
            <a:pPr marL="0" indent="0">
              <a:buNone/>
            </a:pPr>
            <a:r>
              <a:rPr lang="en-US" sz="1400" b="1" dirty="0">
                <a:solidFill>
                  <a:schemeClr val="tx2"/>
                </a:solidFill>
              </a:rPr>
              <a:t>Correlation with river discharge</a:t>
            </a:r>
            <a:endParaRPr lang="en-US" sz="1400" dirty="0"/>
          </a:p>
        </p:txBody>
      </p:sp>
      <p:graphicFrame>
        <p:nvGraphicFramePr>
          <p:cNvPr id="4" name="Chart 0"/>
          <p:cNvGraphicFramePr/>
          <p:nvPr/>
        </p:nvGraphicFramePr>
        <p:xfrm>
          <a:off x="365760" y="1463040"/>
          <a:ext cx="50292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why"/>
          <p:cNvSpPr/>
          <p:nvPr/>
        </p:nvSpPr>
        <p:spPr>
          <a:xfrm>
            <a:off x="5669280" y="1280160"/>
            <a:ext cx="3017520" cy="3200400"/>
          </a:xfrm>
          <a:prstGeom prst="rect">
            <a:avLst/>
          </a:prstGeom>
          <a:solidFill>
            <a:schemeClr val="bg2"/>
          </a:solidFill>
          <a:ln w="12700">
            <a:solidFill>
              <a:schemeClr val="bg2"/>
            </a:solidFill>
            <a:prstDash val="solid"/>
          </a:ln>
        </p:spPr>
      </p:sp>
      <p:sp>
        <p:nvSpPr>
          <p:cNvPr id="6" name="Text 3"/>
          <p:cNvSpPr txBox="1"/>
          <p:nvPr/>
        </p:nvSpPr>
        <p:spPr>
          <a:xfrm>
            <a:off x="5852160" y="1417320"/>
            <a:ext cx="2651760" cy="320040"/>
          </a:xfrm>
          <a:prstGeom prst="rect">
            <a:avLst/>
          </a:prstGeom>
          <a:noFill/>
          <a:ln/>
        </p:spPr>
        <p:txBody>
          <a:bodyPr wrap="square" lIns="0" tIns="0" rIns="0" bIns="0" rtlCol="0" anchor="t"/>
          <a:lstStyle/>
          <a:p>
            <a:pPr marL="0" indent="0">
              <a:buNone/>
            </a:pPr>
            <a:r>
              <a:rPr lang="en-US" sz="1600" b="1" dirty="0">
                <a:solidFill>
                  <a:schemeClr val="tx2"/>
                </a:solidFill>
              </a:rPr>
              <a:t>Why lag features</a:t>
            </a:r>
            <a:endParaRPr lang="en-US" sz="1600" dirty="0"/>
          </a:p>
        </p:txBody>
      </p:sp>
      <p:sp>
        <p:nvSpPr>
          <p:cNvPr id="7" name="Text 4"/>
          <p:cNvSpPr txBox="1"/>
          <p:nvPr/>
        </p:nvSpPr>
        <p:spPr>
          <a:xfrm>
            <a:off x="5852160" y="1828800"/>
            <a:ext cx="2651760" cy="2468880"/>
          </a:xfrm>
          <a:prstGeom prst="rect">
            <a:avLst/>
          </a:prstGeom>
          <a:noFill/>
          <a:ln/>
        </p:spPr>
        <p:txBody>
          <a:bodyPr wrap="square" lIns="0" tIns="0" rIns="0" bIns="0" rtlCol="0" anchor="t"/>
          <a:lstStyle/>
          <a:p>
            <a:pPr marL="0" indent="0">
              <a:buNone/>
            </a:pPr>
            <a:r>
              <a:rPr lang="en-US" sz="1400" dirty="0">
                <a:solidFill>
                  <a:schemeClr val="tx1"/>
                </a:solidFill>
              </a:rPr>
              <a:t>Rain today does not become river flow today. The scatter of rainfall against discharge shows no clean pattern, so the project adds delayed rainfall and rolling totals to capture the response.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Feature engineering and a time-based split</a:t>
            </a:r>
            <a:endParaRPr lang="en-US" sz="2800" dirty="0"/>
          </a:p>
        </p:txBody>
      </p:sp>
      <p:sp>
        <p:nvSpPr>
          <p:cNvPr id="3" name="fe0"/>
          <p:cNvSpPr/>
          <p:nvPr/>
        </p:nvSpPr>
        <p:spPr>
          <a:xfrm>
            <a:off x="457200" y="1234440"/>
            <a:ext cx="2651760" cy="1965960"/>
          </a:xfrm>
          <a:prstGeom prst="rect">
            <a:avLst/>
          </a:prstGeom>
          <a:solidFill>
            <a:schemeClr val="bg2"/>
          </a:solidFill>
          <a:ln w="12700">
            <a:solidFill>
              <a:schemeClr val="bg2"/>
            </a:solidFill>
            <a:prstDash val="solid"/>
          </a:ln>
        </p:spPr>
      </p:sp>
      <p:sp>
        <p:nvSpPr>
          <p:cNvPr id="4" name="Text 2"/>
          <p:cNvSpPr txBox="1"/>
          <p:nvPr/>
        </p:nvSpPr>
        <p:spPr>
          <a:xfrm>
            <a:off x="640080" y="1371600"/>
            <a:ext cx="22860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Lags</a:t>
            </a:r>
            <a:endParaRPr lang="en-US" sz="1800" dirty="0"/>
          </a:p>
        </p:txBody>
      </p:sp>
      <p:sp>
        <p:nvSpPr>
          <p:cNvPr id="5" name="Text 3"/>
          <p:cNvSpPr txBox="1"/>
          <p:nvPr/>
        </p:nvSpPr>
        <p:spPr>
          <a:xfrm>
            <a:off x="640080" y="1828800"/>
            <a:ext cx="2286000" cy="1280160"/>
          </a:xfrm>
          <a:prstGeom prst="rect">
            <a:avLst/>
          </a:prstGeom>
          <a:noFill/>
          <a:ln/>
        </p:spPr>
        <p:txBody>
          <a:bodyPr wrap="square" lIns="0" tIns="0" rIns="0" bIns="0" rtlCol="0" anchor="t"/>
          <a:lstStyle/>
          <a:p>
            <a:pPr marL="0" indent="0">
              <a:buNone/>
            </a:pPr>
            <a:r>
              <a:rPr lang="en-US" sz="1400" dirty="0">
                <a:solidFill>
                  <a:schemeClr val="tx1"/>
                </a:solidFill>
              </a:rPr>
              <a:t>rain_lag1 to rain_lag3 and discharge_lag1, built per station</a:t>
            </a:r>
            <a:endParaRPr lang="en-US" sz="1400" dirty="0"/>
          </a:p>
        </p:txBody>
      </p:sp>
      <p:sp>
        <p:nvSpPr>
          <p:cNvPr id="6" name="fe1"/>
          <p:cNvSpPr/>
          <p:nvPr/>
        </p:nvSpPr>
        <p:spPr>
          <a:xfrm>
            <a:off x="3246120" y="1234440"/>
            <a:ext cx="2651760" cy="1965960"/>
          </a:xfrm>
          <a:prstGeom prst="rect">
            <a:avLst/>
          </a:prstGeom>
          <a:solidFill>
            <a:schemeClr val="bg2"/>
          </a:solidFill>
          <a:ln w="12700">
            <a:solidFill>
              <a:schemeClr val="bg2"/>
            </a:solidFill>
            <a:prstDash val="solid"/>
          </a:ln>
        </p:spPr>
      </p:sp>
      <p:sp>
        <p:nvSpPr>
          <p:cNvPr id="7" name="Text 5"/>
          <p:cNvSpPr txBox="1"/>
          <p:nvPr/>
        </p:nvSpPr>
        <p:spPr>
          <a:xfrm>
            <a:off x="3429000" y="1371600"/>
            <a:ext cx="22860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Rolling</a:t>
            </a:r>
            <a:endParaRPr lang="en-US" sz="1800" dirty="0"/>
          </a:p>
        </p:txBody>
      </p:sp>
      <p:sp>
        <p:nvSpPr>
          <p:cNvPr id="8" name="Text 6"/>
          <p:cNvSpPr txBox="1"/>
          <p:nvPr/>
        </p:nvSpPr>
        <p:spPr>
          <a:xfrm>
            <a:off x="3429000" y="1828800"/>
            <a:ext cx="2286000" cy="1280160"/>
          </a:xfrm>
          <a:prstGeom prst="rect">
            <a:avLst/>
          </a:prstGeom>
          <a:noFill/>
          <a:ln/>
        </p:spPr>
        <p:txBody>
          <a:bodyPr wrap="square" lIns="0" tIns="0" rIns="0" bIns="0" rtlCol="0" anchor="t"/>
          <a:lstStyle/>
          <a:p>
            <a:pPr marL="0" indent="0">
              <a:buNone/>
            </a:pPr>
            <a:r>
              <a:rPr lang="en-US" sz="1400" dirty="0">
                <a:solidFill>
                  <a:schemeClr val="tx1"/>
                </a:solidFill>
              </a:rPr>
              <a:t>3-day rain total and 7-day rain average, shifted one day so today is excluded</a:t>
            </a:r>
            <a:endParaRPr lang="en-US" sz="1400" dirty="0"/>
          </a:p>
        </p:txBody>
      </p:sp>
      <p:sp>
        <p:nvSpPr>
          <p:cNvPr id="9" name="fe2"/>
          <p:cNvSpPr/>
          <p:nvPr/>
        </p:nvSpPr>
        <p:spPr>
          <a:xfrm>
            <a:off x="6035040" y="1234440"/>
            <a:ext cx="2651760" cy="1965960"/>
          </a:xfrm>
          <a:prstGeom prst="rect">
            <a:avLst/>
          </a:prstGeom>
          <a:solidFill>
            <a:schemeClr val="bg2"/>
          </a:solidFill>
          <a:ln w="12700">
            <a:solidFill>
              <a:schemeClr val="bg2"/>
            </a:solidFill>
            <a:prstDash val="solid"/>
          </a:ln>
        </p:spPr>
      </p:sp>
      <p:sp>
        <p:nvSpPr>
          <p:cNvPr id="10" name="Text 8"/>
          <p:cNvSpPr txBox="1"/>
          <p:nvPr/>
        </p:nvSpPr>
        <p:spPr>
          <a:xfrm>
            <a:off x="6217920" y="1371600"/>
            <a:ext cx="22860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Calendar and IDs</a:t>
            </a:r>
            <a:endParaRPr lang="en-US" sz="1800" dirty="0"/>
          </a:p>
        </p:txBody>
      </p:sp>
      <p:sp>
        <p:nvSpPr>
          <p:cNvPr id="11" name="Text 9"/>
          <p:cNvSpPr txBox="1"/>
          <p:nvPr/>
        </p:nvSpPr>
        <p:spPr>
          <a:xfrm>
            <a:off x="6217920" y="1828800"/>
            <a:ext cx="2286000" cy="1280160"/>
          </a:xfrm>
          <a:prstGeom prst="rect">
            <a:avLst/>
          </a:prstGeom>
          <a:noFill/>
          <a:ln/>
        </p:spPr>
        <p:txBody>
          <a:bodyPr wrap="square" lIns="0" tIns="0" rIns="0" bIns="0" rtlCol="0" anchor="t"/>
          <a:lstStyle/>
          <a:p>
            <a:pPr marL="0" indent="0">
              <a:buNone/>
            </a:pPr>
            <a:r>
              <a:rPr lang="en-US" sz="1400" dirty="0">
                <a:solidFill>
                  <a:schemeClr val="tx1"/>
                </a:solidFill>
              </a:rPr>
              <a:t>year, month, day of week; location, river and basin one-hot encoded</a:t>
            </a:r>
            <a:endParaRPr lang="en-US" sz="1400" dirty="0"/>
          </a:p>
        </p:txBody>
      </p:sp>
      <p:sp>
        <p:nvSpPr>
          <p:cNvPr id="12" name="split"/>
          <p:cNvSpPr/>
          <p:nvPr/>
        </p:nvSpPr>
        <p:spPr>
          <a:xfrm>
            <a:off x="457200" y="3474720"/>
            <a:ext cx="8229600" cy="1051560"/>
          </a:xfrm>
          <a:prstGeom prst="rect">
            <a:avLst/>
          </a:prstGeom>
          <a:solidFill>
            <a:schemeClr val="tx2"/>
          </a:solidFill>
          <a:ln w="12700">
            <a:solidFill>
              <a:schemeClr val="tx2"/>
            </a:solidFill>
            <a:prstDash val="solid"/>
          </a:ln>
        </p:spPr>
      </p:sp>
      <p:sp>
        <p:nvSpPr>
          <p:cNvPr id="13" name="Text 11"/>
          <p:cNvSpPr txBox="1"/>
          <p:nvPr/>
        </p:nvSpPr>
        <p:spPr>
          <a:xfrm>
            <a:off x="640080" y="3611880"/>
            <a:ext cx="2560320" cy="50292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10,640</a:t>
            </a:r>
            <a:endParaRPr lang="en-US" sz="2800" dirty="0"/>
          </a:p>
        </p:txBody>
      </p:sp>
      <p:sp>
        <p:nvSpPr>
          <p:cNvPr id="14" name="Text 12"/>
          <p:cNvSpPr txBox="1"/>
          <p:nvPr/>
        </p:nvSpPr>
        <p:spPr>
          <a:xfrm>
            <a:off x="640080" y="4114800"/>
            <a:ext cx="2560320" cy="320040"/>
          </a:xfrm>
          <a:prstGeom prst="rect">
            <a:avLst/>
          </a:prstGeom>
          <a:noFill/>
          <a:ln/>
        </p:spPr>
        <p:txBody>
          <a:bodyPr wrap="square" lIns="0" tIns="0" rIns="0" bIns="0" rtlCol="0" anchor="t"/>
          <a:lstStyle/>
          <a:p>
            <a:pPr marL="0" indent="0">
              <a:buNone/>
            </a:pPr>
            <a:r>
              <a:rPr lang="en-US" sz="1300" dirty="0">
                <a:solidFill>
                  <a:schemeClr val="bg1"/>
                </a:solidFill>
              </a:rPr>
              <a:t>training rows</a:t>
            </a:r>
            <a:endParaRPr lang="en-US" sz="1300" dirty="0"/>
          </a:p>
        </p:txBody>
      </p:sp>
      <p:sp>
        <p:nvSpPr>
          <p:cNvPr id="15" name="Text 13"/>
          <p:cNvSpPr txBox="1"/>
          <p:nvPr/>
        </p:nvSpPr>
        <p:spPr>
          <a:xfrm>
            <a:off x="3337560" y="3611880"/>
            <a:ext cx="2560320" cy="50292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2,670</a:t>
            </a:r>
            <a:endParaRPr lang="en-US" sz="2800" dirty="0"/>
          </a:p>
        </p:txBody>
      </p:sp>
      <p:sp>
        <p:nvSpPr>
          <p:cNvPr id="16" name="Text 14"/>
          <p:cNvSpPr txBox="1"/>
          <p:nvPr/>
        </p:nvSpPr>
        <p:spPr>
          <a:xfrm>
            <a:off x="3337560" y="4114800"/>
            <a:ext cx="2560320" cy="320040"/>
          </a:xfrm>
          <a:prstGeom prst="rect">
            <a:avLst/>
          </a:prstGeom>
          <a:noFill/>
          <a:ln/>
        </p:spPr>
        <p:txBody>
          <a:bodyPr wrap="square" lIns="0" tIns="0" rIns="0" bIns="0" rtlCol="0" anchor="t"/>
          <a:lstStyle/>
          <a:p>
            <a:pPr marL="0" indent="0">
              <a:buNone/>
            </a:pPr>
            <a:r>
              <a:rPr lang="en-US" sz="1300" dirty="0">
                <a:solidFill>
                  <a:schemeClr val="bg1"/>
                </a:solidFill>
              </a:rPr>
              <a:t>test rows (from 7 Dec 2025)</a:t>
            </a:r>
            <a:endParaRPr lang="en-US" sz="1300" dirty="0"/>
          </a:p>
        </p:txBody>
      </p:sp>
      <p:sp>
        <p:nvSpPr>
          <p:cNvPr id="17" name="Text 15"/>
          <p:cNvSpPr txBox="1"/>
          <p:nvPr/>
        </p:nvSpPr>
        <p:spPr>
          <a:xfrm>
            <a:off x="6035040" y="3611880"/>
            <a:ext cx="2560320" cy="50292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51</a:t>
            </a:r>
            <a:endParaRPr lang="en-US" sz="2800" dirty="0"/>
          </a:p>
        </p:txBody>
      </p:sp>
      <p:sp>
        <p:nvSpPr>
          <p:cNvPr id="18" name="Text 16"/>
          <p:cNvSpPr txBox="1"/>
          <p:nvPr/>
        </p:nvSpPr>
        <p:spPr>
          <a:xfrm>
            <a:off x="6035040" y="4114800"/>
            <a:ext cx="2560320" cy="320040"/>
          </a:xfrm>
          <a:prstGeom prst="rect">
            <a:avLst/>
          </a:prstGeom>
          <a:noFill/>
          <a:ln/>
        </p:spPr>
        <p:txBody>
          <a:bodyPr wrap="square" lIns="0" tIns="0" rIns="0" bIns="0" rtlCol="0" anchor="t"/>
          <a:lstStyle/>
          <a:p>
            <a:pPr marL="0" indent="0">
              <a:buNone/>
            </a:pPr>
            <a:r>
              <a:rPr lang="en-US" sz="1300" dirty="0">
                <a:solidFill>
                  <a:schemeClr val="bg1"/>
                </a:solidFill>
              </a:rPr>
              <a:t>features after encoding</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How we measure model performance</a:t>
            </a:r>
            <a:endParaRPr lang="en-US" sz="2800" dirty="0"/>
          </a:p>
        </p:txBody>
      </p:sp>
      <p:sp>
        <p:nvSpPr>
          <p:cNvPr id="3" name="m0"/>
          <p:cNvSpPr/>
          <p:nvPr/>
        </p:nvSpPr>
        <p:spPr>
          <a:xfrm>
            <a:off x="457200" y="1234440"/>
            <a:ext cx="1920240" cy="2743200"/>
          </a:xfrm>
          <a:prstGeom prst="rect">
            <a:avLst/>
          </a:prstGeom>
          <a:solidFill>
            <a:schemeClr val="bg2"/>
          </a:solidFill>
          <a:ln w="12700">
            <a:solidFill>
              <a:schemeClr val="bg2"/>
            </a:solidFill>
            <a:prstDash val="solid"/>
          </a:ln>
        </p:spPr>
      </p:sp>
      <p:sp>
        <p:nvSpPr>
          <p:cNvPr id="4" name="Text 2"/>
          <p:cNvSpPr txBox="1"/>
          <p:nvPr/>
        </p:nvSpPr>
        <p:spPr>
          <a:xfrm>
            <a:off x="594360" y="1325880"/>
            <a:ext cx="164592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MAE</a:t>
            </a:r>
            <a:endParaRPr lang="en-US" sz="3000" dirty="0"/>
          </a:p>
        </p:txBody>
      </p:sp>
      <p:sp>
        <p:nvSpPr>
          <p:cNvPr id="5" name="Text 3"/>
          <p:cNvSpPr txBox="1"/>
          <p:nvPr/>
        </p:nvSpPr>
        <p:spPr>
          <a:xfrm>
            <a:off x="594360" y="1874520"/>
            <a:ext cx="1645920" cy="457200"/>
          </a:xfrm>
          <a:prstGeom prst="rect">
            <a:avLst/>
          </a:prstGeom>
          <a:noFill/>
          <a:ln/>
        </p:spPr>
        <p:txBody>
          <a:bodyPr wrap="square" lIns="0" tIns="0" rIns="0" bIns="0" rtlCol="0" anchor="t"/>
          <a:lstStyle/>
          <a:p>
            <a:pPr marL="0" indent="0">
              <a:buNone/>
            </a:pPr>
            <a:r>
              <a:rPr lang="en-US" sz="1300" b="1" dirty="0">
                <a:solidFill>
                  <a:schemeClr val="tx2"/>
                </a:solidFill>
              </a:rPr>
              <a:t>Mean Absolute Error</a:t>
            </a:r>
            <a:endParaRPr lang="en-US" sz="1300" dirty="0"/>
          </a:p>
        </p:txBody>
      </p:sp>
      <p:sp>
        <p:nvSpPr>
          <p:cNvPr id="6" name="Text 4"/>
          <p:cNvSpPr txBox="1"/>
          <p:nvPr/>
        </p:nvSpPr>
        <p:spPr>
          <a:xfrm>
            <a:off x="594360" y="2377440"/>
            <a:ext cx="1645920" cy="1097280"/>
          </a:xfrm>
          <a:prstGeom prst="rect">
            <a:avLst/>
          </a:prstGeom>
          <a:noFill/>
          <a:ln/>
        </p:spPr>
        <p:txBody>
          <a:bodyPr wrap="square" lIns="0" tIns="0" rIns="0" bIns="0" rtlCol="0" anchor="t"/>
          <a:lstStyle/>
          <a:p>
            <a:pPr marL="0" indent="0">
              <a:buNone/>
            </a:pPr>
            <a:r>
              <a:rPr lang="en-US" sz="1200" dirty="0">
                <a:solidFill>
                  <a:schemeClr val="tx1"/>
                </a:solidFill>
              </a:rPr>
              <a:t>Average size of the miss, in m³/s. Easy to read.</a:t>
            </a:r>
            <a:endParaRPr lang="en-US" sz="1200" dirty="0"/>
          </a:p>
        </p:txBody>
      </p:sp>
      <p:sp>
        <p:nvSpPr>
          <p:cNvPr id="7" name="Text 5"/>
          <p:cNvSpPr txBox="1"/>
          <p:nvPr/>
        </p:nvSpPr>
        <p:spPr>
          <a:xfrm>
            <a:off x="594360" y="3520440"/>
            <a:ext cx="1645920" cy="274320"/>
          </a:xfrm>
          <a:prstGeom prst="rect">
            <a:avLst/>
          </a:prstGeom>
          <a:noFill/>
          <a:ln/>
        </p:spPr>
        <p:txBody>
          <a:bodyPr wrap="square" lIns="0" tIns="0" rIns="0" bIns="0" rtlCol="0" anchor="t"/>
          <a:lstStyle/>
          <a:p>
            <a:pPr marL="0" indent="0">
              <a:buNone/>
            </a:pPr>
            <a:r>
              <a:rPr lang="en-US" sz="1200" b="1" dirty="0">
                <a:solidFill>
                  <a:schemeClr val="accent2"/>
                </a:solidFill>
              </a:rPr>
              <a:t>Lower is better</a:t>
            </a:r>
            <a:endParaRPr lang="en-US" sz="1200" dirty="0"/>
          </a:p>
        </p:txBody>
      </p:sp>
      <p:sp>
        <p:nvSpPr>
          <p:cNvPr id="8" name="m1"/>
          <p:cNvSpPr/>
          <p:nvPr/>
        </p:nvSpPr>
        <p:spPr>
          <a:xfrm>
            <a:off x="2560320" y="1234440"/>
            <a:ext cx="1920240" cy="2743200"/>
          </a:xfrm>
          <a:prstGeom prst="rect">
            <a:avLst/>
          </a:prstGeom>
          <a:solidFill>
            <a:schemeClr val="bg2"/>
          </a:solidFill>
          <a:ln w="12700">
            <a:solidFill>
              <a:schemeClr val="bg2"/>
            </a:solidFill>
            <a:prstDash val="solid"/>
          </a:ln>
        </p:spPr>
      </p:sp>
      <p:sp>
        <p:nvSpPr>
          <p:cNvPr id="9" name="Text 7"/>
          <p:cNvSpPr txBox="1"/>
          <p:nvPr/>
        </p:nvSpPr>
        <p:spPr>
          <a:xfrm>
            <a:off x="2697480" y="1325880"/>
            <a:ext cx="164592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MSE</a:t>
            </a:r>
            <a:endParaRPr lang="en-US" sz="3000" dirty="0"/>
          </a:p>
        </p:txBody>
      </p:sp>
      <p:sp>
        <p:nvSpPr>
          <p:cNvPr id="10" name="Text 8"/>
          <p:cNvSpPr txBox="1"/>
          <p:nvPr/>
        </p:nvSpPr>
        <p:spPr>
          <a:xfrm>
            <a:off x="2697480" y="1874520"/>
            <a:ext cx="1645920" cy="457200"/>
          </a:xfrm>
          <a:prstGeom prst="rect">
            <a:avLst/>
          </a:prstGeom>
          <a:noFill/>
          <a:ln/>
        </p:spPr>
        <p:txBody>
          <a:bodyPr wrap="square" lIns="0" tIns="0" rIns="0" bIns="0" rtlCol="0" anchor="t"/>
          <a:lstStyle/>
          <a:p>
            <a:pPr marL="0" indent="0">
              <a:buNone/>
            </a:pPr>
            <a:r>
              <a:rPr lang="en-US" sz="1300" b="1" dirty="0">
                <a:solidFill>
                  <a:schemeClr val="tx2"/>
                </a:solidFill>
              </a:rPr>
              <a:t>Mean Squared Error</a:t>
            </a:r>
            <a:endParaRPr lang="en-US" sz="1300" dirty="0"/>
          </a:p>
        </p:txBody>
      </p:sp>
      <p:sp>
        <p:nvSpPr>
          <p:cNvPr id="11" name="Text 9"/>
          <p:cNvSpPr txBox="1"/>
          <p:nvPr/>
        </p:nvSpPr>
        <p:spPr>
          <a:xfrm>
            <a:off x="2697480" y="2377440"/>
            <a:ext cx="1645920" cy="1097280"/>
          </a:xfrm>
          <a:prstGeom prst="rect">
            <a:avLst/>
          </a:prstGeom>
          <a:noFill/>
          <a:ln/>
        </p:spPr>
        <p:txBody>
          <a:bodyPr wrap="square" lIns="0" tIns="0" rIns="0" bIns="0" rtlCol="0" anchor="t"/>
          <a:lstStyle/>
          <a:p>
            <a:pPr marL="0" indent="0">
              <a:buNone/>
            </a:pPr>
            <a:r>
              <a:rPr lang="en-US" sz="1200" dirty="0">
                <a:solidFill>
                  <a:schemeClr val="tx1"/>
                </a:solidFill>
              </a:rPr>
              <a:t>Average of the squared misses, so big errors count far more.</a:t>
            </a:r>
            <a:endParaRPr lang="en-US" sz="1200" dirty="0"/>
          </a:p>
        </p:txBody>
      </p:sp>
      <p:sp>
        <p:nvSpPr>
          <p:cNvPr id="12" name="Text 10"/>
          <p:cNvSpPr txBox="1"/>
          <p:nvPr/>
        </p:nvSpPr>
        <p:spPr>
          <a:xfrm>
            <a:off x="2697480" y="3520440"/>
            <a:ext cx="1645920" cy="274320"/>
          </a:xfrm>
          <a:prstGeom prst="rect">
            <a:avLst/>
          </a:prstGeom>
          <a:noFill/>
          <a:ln/>
        </p:spPr>
        <p:txBody>
          <a:bodyPr wrap="square" lIns="0" tIns="0" rIns="0" bIns="0" rtlCol="0" anchor="t"/>
          <a:lstStyle/>
          <a:p>
            <a:pPr marL="0" indent="0">
              <a:buNone/>
            </a:pPr>
            <a:r>
              <a:rPr lang="en-US" sz="1200" b="1" dirty="0">
                <a:solidFill>
                  <a:schemeClr val="accent2"/>
                </a:solidFill>
              </a:rPr>
              <a:t>Lower is better</a:t>
            </a:r>
            <a:endParaRPr lang="en-US" sz="1200" dirty="0"/>
          </a:p>
        </p:txBody>
      </p:sp>
      <p:sp>
        <p:nvSpPr>
          <p:cNvPr id="13" name="m2"/>
          <p:cNvSpPr/>
          <p:nvPr/>
        </p:nvSpPr>
        <p:spPr>
          <a:xfrm>
            <a:off x="4663440" y="1234440"/>
            <a:ext cx="1920240" cy="2743200"/>
          </a:xfrm>
          <a:prstGeom prst="rect">
            <a:avLst/>
          </a:prstGeom>
          <a:solidFill>
            <a:schemeClr val="bg2"/>
          </a:solidFill>
          <a:ln w="12700">
            <a:solidFill>
              <a:schemeClr val="bg2"/>
            </a:solidFill>
            <a:prstDash val="solid"/>
          </a:ln>
        </p:spPr>
      </p:sp>
      <p:sp>
        <p:nvSpPr>
          <p:cNvPr id="14" name="Text 12"/>
          <p:cNvSpPr txBox="1"/>
          <p:nvPr/>
        </p:nvSpPr>
        <p:spPr>
          <a:xfrm>
            <a:off x="4800600" y="1325880"/>
            <a:ext cx="164592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RMSE</a:t>
            </a:r>
            <a:endParaRPr lang="en-US" sz="3000" dirty="0"/>
          </a:p>
        </p:txBody>
      </p:sp>
      <p:sp>
        <p:nvSpPr>
          <p:cNvPr id="15" name="Text 13"/>
          <p:cNvSpPr txBox="1"/>
          <p:nvPr/>
        </p:nvSpPr>
        <p:spPr>
          <a:xfrm>
            <a:off x="4800600" y="1874520"/>
            <a:ext cx="1645920" cy="457200"/>
          </a:xfrm>
          <a:prstGeom prst="rect">
            <a:avLst/>
          </a:prstGeom>
          <a:noFill/>
          <a:ln/>
        </p:spPr>
        <p:txBody>
          <a:bodyPr wrap="square" lIns="0" tIns="0" rIns="0" bIns="0" rtlCol="0" anchor="t"/>
          <a:lstStyle/>
          <a:p>
            <a:pPr marL="0" indent="0">
              <a:buNone/>
            </a:pPr>
            <a:r>
              <a:rPr lang="en-US" sz="1300" b="1" dirty="0">
                <a:solidFill>
                  <a:schemeClr val="tx2"/>
                </a:solidFill>
              </a:rPr>
              <a:t>Root Mean Squared Error</a:t>
            </a:r>
            <a:endParaRPr lang="en-US" sz="1300" dirty="0"/>
          </a:p>
        </p:txBody>
      </p:sp>
      <p:sp>
        <p:nvSpPr>
          <p:cNvPr id="16" name="Text 14"/>
          <p:cNvSpPr txBox="1"/>
          <p:nvPr/>
        </p:nvSpPr>
        <p:spPr>
          <a:xfrm>
            <a:off x="4800600" y="2377440"/>
            <a:ext cx="1645920" cy="1097280"/>
          </a:xfrm>
          <a:prstGeom prst="rect">
            <a:avLst/>
          </a:prstGeom>
          <a:noFill/>
          <a:ln/>
        </p:spPr>
        <p:txBody>
          <a:bodyPr wrap="square" lIns="0" tIns="0" rIns="0" bIns="0" rtlCol="0" anchor="t"/>
          <a:lstStyle/>
          <a:p>
            <a:pPr marL="0" indent="0">
              <a:buNone/>
            </a:pPr>
            <a:r>
              <a:rPr lang="en-US" sz="1200" dirty="0">
                <a:solidFill>
                  <a:schemeClr val="tx1"/>
                </a:solidFill>
              </a:rPr>
              <a:t>Square root of MSE, back in m³/s. Highlights large flood misses.</a:t>
            </a:r>
            <a:endParaRPr lang="en-US" sz="1200" dirty="0"/>
          </a:p>
        </p:txBody>
      </p:sp>
      <p:sp>
        <p:nvSpPr>
          <p:cNvPr id="17" name="Text 15"/>
          <p:cNvSpPr txBox="1"/>
          <p:nvPr/>
        </p:nvSpPr>
        <p:spPr>
          <a:xfrm>
            <a:off x="4800600" y="3520440"/>
            <a:ext cx="1645920" cy="274320"/>
          </a:xfrm>
          <a:prstGeom prst="rect">
            <a:avLst/>
          </a:prstGeom>
          <a:noFill/>
          <a:ln/>
        </p:spPr>
        <p:txBody>
          <a:bodyPr wrap="square" lIns="0" tIns="0" rIns="0" bIns="0" rtlCol="0" anchor="t"/>
          <a:lstStyle/>
          <a:p>
            <a:pPr marL="0" indent="0">
              <a:buNone/>
            </a:pPr>
            <a:r>
              <a:rPr lang="en-US" sz="1200" b="1" dirty="0">
                <a:solidFill>
                  <a:schemeClr val="accent2"/>
                </a:solidFill>
              </a:rPr>
              <a:t>Lower is better</a:t>
            </a:r>
            <a:endParaRPr lang="en-US" sz="1200" dirty="0"/>
          </a:p>
        </p:txBody>
      </p:sp>
      <p:sp>
        <p:nvSpPr>
          <p:cNvPr id="18" name="m3"/>
          <p:cNvSpPr/>
          <p:nvPr/>
        </p:nvSpPr>
        <p:spPr>
          <a:xfrm>
            <a:off x="6766560" y="1234440"/>
            <a:ext cx="1920240" cy="2743200"/>
          </a:xfrm>
          <a:prstGeom prst="rect">
            <a:avLst/>
          </a:prstGeom>
          <a:solidFill>
            <a:schemeClr val="bg2"/>
          </a:solidFill>
          <a:ln w="12700">
            <a:solidFill>
              <a:schemeClr val="bg2"/>
            </a:solidFill>
            <a:prstDash val="solid"/>
          </a:ln>
        </p:spPr>
      </p:sp>
      <p:sp>
        <p:nvSpPr>
          <p:cNvPr id="19" name="Text 17"/>
          <p:cNvSpPr txBox="1"/>
          <p:nvPr/>
        </p:nvSpPr>
        <p:spPr>
          <a:xfrm>
            <a:off x="6903720" y="1325880"/>
            <a:ext cx="1645920" cy="54864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R²</a:t>
            </a:r>
            <a:endParaRPr lang="en-US" sz="3000" dirty="0"/>
          </a:p>
        </p:txBody>
      </p:sp>
      <p:sp>
        <p:nvSpPr>
          <p:cNvPr id="20" name="Text 18"/>
          <p:cNvSpPr txBox="1"/>
          <p:nvPr/>
        </p:nvSpPr>
        <p:spPr>
          <a:xfrm>
            <a:off x="6903720" y="1874520"/>
            <a:ext cx="1645920" cy="457200"/>
          </a:xfrm>
          <a:prstGeom prst="rect">
            <a:avLst/>
          </a:prstGeom>
          <a:noFill/>
          <a:ln/>
        </p:spPr>
        <p:txBody>
          <a:bodyPr wrap="square" lIns="0" tIns="0" rIns="0" bIns="0" rtlCol="0" anchor="t"/>
          <a:lstStyle/>
          <a:p>
            <a:pPr marL="0" indent="0">
              <a:buNone/>
            </a:pPr>
            <a:r>
              <a:rPr lang="en-US" sz="1300" b="1" dirty="0">
                <a:solidFill>
                  <a:schemeClr val="tx2"/>
                </a:solidFill>
              </a:rPr>
              <a:t>R-squared</a:t>
            </a:r>
            <a:endParaRPr lang="en-US" sz="1300" dirty="0"/>
          </a:p>
        </p:txBody>
      </p:sp>
      <p:sp>
        <p:nvSpPr>
          <p:cNvPr id="21" name="Text 19"/>
          <p:cNvSpPr txBox="1"/>
          <p:nvPr/>
        </p:nvSpPr>
        <p:spPr>
          <a:xfrm>
            <a:off x="6903720" y="2377440"/>
            <a:ext cx="1645920" cy="1097280"/>
          </a:xfrm>
          <a:prstGeom prst="rect">
            <a:avLst/>
          </a:prstGeom>
          <a:noFill/>
          <a:ln/>
        </p:spPr>
        <p:txBody>
          <a:bodyPr wrap="square" lIns="0" tIns="0" rIns="0" bIns="0" rtlCol="0" anchor="t"/>
          <a:lstStyle/>
          <a:p>
            <a:pPr marL="0" indent="0">
              <a:buNone/>
            </a:pPr>
            <a:r>
              <a:rPr lang="en-US" sz="1200" dirty="0">
                <a:solidFill>
                  <a:schemeClr val="tx1"/>
                </a:solidFill>
              </a:rPr>
              <a:t>Share of the ups and downs in discharge the model explains. 1 is perfect.</a:t>
            </a:r>
            <a:endParaRPr lang="en-US" sz="1200" dirty="0"/>
          </a:p>
        </p:txBody>
      </p:sp>
      <p:sp>
        <p:nvSpPr>
          <p:cNvPr id="22" name="Text 20"/>
          <p:cNvSpPr txBox="1"/>
          <p:nvPr/>
        </p:nvSpPr>
        <p:spPr>
          <a:xfrm>
            <a:off x="6903720" y="3520440"/>
            <a:ext cx="1645920" cy="274320"/>
          </a:xfrm>
          <a:prstGeom prst="rect">
            <a:avLst/>
          </a:prstGeom>
          <a:noFill/>
          <a:ln/>
        </p:spPr>
        <p:txBody>
          <a:bodyPr wrap="square" lIns="0" tIns="0" rIns="0" bIns="0" rtlCol="0" anchor="t"/>
          <a:lstStyle/>
          <a:p>
            <a:pPr marL="0" indent="0">
              <a:buNone/>
            </a:pPr>
            <a:r>
              <a:rPr lang="en-US" sz="1200" b="1" dirty="0">
                <a:solidFill>
                  <a:schemeClr val="accent2"/>
                </a:solidFill>
              </a:rPr>
              <a:t>Higher is better</a:t>
            </a:r>
            <a:endParaRPr lang="en-US" sz="1200" dirty="0"/>
          </a:p>
        </p:txBody>
      </p:sp>
      <p:sp>
        <p:nvSpPr>
          <p:cNvPr id="23" name="mnote"/>
          <p:cNvSpPr/>
          <p:nvPr/>
        </p:nvSpPr>
        <p:spPr>
          <a:xfrm>
            <a:off x="457200" y="4114800"/>
            <a:ext cx="8229600" cy="457200"/>
          </a:xfrm>
          <a:prstGeom prst="rect">
            <a:avLst/>
          </a:prstGeom>
          <a:solidFill>
            <a:schemeClr val="bg2"/>
          </a:solidFill>
          <a:ln w="12700">
            <a:solidFill>
              <a:schemeClr val="bg2"/>
            </a:solidFill>
            <a:prstDash val="solid"/>
          </a:ln>
        </p:spPr>
      </p:sp>
      <p:sp>
        <p:nvSpPr>
          <p:cNvPr id="24" name="Text 22"/>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300" dirty="0">
                <a:solidFill>
                  <a:schemeClr val="tx1"/>
                </a:solidFill>
              </a:rPr>
              <a:t>MAE shows typical accuracy; MSE and RMSE show how badly the model misses on extreme days.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Model results on the test set</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0292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B3C5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B3C5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MSE</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B3C5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B3C5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lgn="l">
                        <a:buNone/>
                      </a:pPr>
                      <a:r>
                        <a:rPr lang="en-US" sz="1400" b="1" dirty="0">
                          <a:solidFill>
                            <a:srgbClr val="1B2B34"/>
                          </a:solidFill>
                          <a:latin typeface="Calibri" pitchFamily="34" charset="0"/>
                          <a:ea typeface="Calibri" pitchFamily="34" charset="-122"/>
                          <a:cs typeface="Calibri" pitchFamily="34" charset="-120"/>
                        </a:rPr>
                        <a:t>Persistence baseline</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DF0DA"/>
                    </a:solidFill>
                  </a:tcPr>
                </a:tc>
                <a:tc>
                  <a:txBody>
                    <a:bodyPr/>
                    <a:lstStyle/>
                    <a:p>
                      <a:pPr marL="0" indent="0" algn="ctr">
                        <a:buNone/>
                      </a:pPr>
                      <a:r>
                        <a:rPr lang="en-US" sz="1400" b="1" dirty="0">
                          <a:solidFill>
                            <a:srgbClr val="1B2B34"/>
                          </a:solidFill>
                          <a:latin typeface="Calibri" pitchFamily="34" charset="0"/>
                          <a:ea typeface="Calibri" pitchFamily="34" charset="-122"/>
                          <a:cs typeface="Calibri" pitchFamily="34" charset="-120"/>
                        </a:rPr>
                        <a:t>1.972</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DF0DA"/>
                    </a:solidFill>
                  </a:tcPr>
                </a:tc>
                <a:tc>
                  <a:txBody>
                    <a:bodyPr/>
                    <a:lstStyle/>
                    <a:p>
                      <a:pPr marL="0" indent="0" algn="ctr">
                        <a:buNone/>
                      </a:pPr>
                      <a:r>
                        <a:rPr lang="en-US" sz="1400" b="1" dirty="0">
                          <a:solidFill>
                            <a:srgbClr val="1B2B34"/>
                          </a:solidFill>
                          <a:latin typeface="Calibri" pitchFamily="34" charset="0"/>
                          <a:ea typeface="Calibri" pitchFamily="34" charset="-122"/>
                          <a:cs typeface="Calibri" pitchFamily="34" charset="-120"/>
                        </a:rPr>
                        <a:t>202.4</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DF0DA"/>
                    </a:solidFill>
                  </a:tcPr>
                </a:tc>
                <a:tc>
                  <a:txBody>
                    <a:bodyPr/>
                    <a:lstStyle/>
                    <a:p>
                      <a:pPr marL="0" indent="0" algn="ctr">
                        <a:buNone/>
                      </a:pPr>
                      <a:r>
                        <a:rPr lang="en-US" sz="1400" b="1" dirty="0">
                          <a:solidFill>
                            <a:srgbClr val="1B2B34"/>
                          </a:solidFill>
                          <a:latin typeface="Calibri" pitchFamily="34" charset="0"/>
                          <a:ea typeface="Calibri" pitchFamily="34" charset="-122"/>
                          <a:cs typeface="Calibri" pitchFamily="34" charset="-120"/>
                        </a:rPr>
                        <a:t>14.23</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DF0DA"/>
                    </a:solidFill>
                  </a:tcPr>
                </a:tc>
                <a:tc>
                  <a:txBody>
                    <a:bodyPr/>
                    <a:lstStyle/>
                    <a:p>
                      <a:pPr marL="0" indent="0" algn="ctr">
                        <a:buNone/>
                      </a:pPr>
                      <a:r>
                        <a:rPr lang="en-US" sz="1400" b="1" dirty="0">
                          <a:solidFill>
                            <a:srgbClr val="1B2B34"/>
                          </a:solidFill>
                          <a:latin typeface="Calibri" pitchFamily="34" charset="0"/>
                          <a:ea typeface="Calibri" pitchFamily="34" charset="-122"/>
                          <a:cs typeface="Calibri" pitchFamily="34" charset="-120"/>
                        </a:rPr>
                        <a:t>0.942</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DF0DA"/>
                    </a:solidFill>
                  </a:tcPr>
                </a:tc>
                <a:extLst>
                  <a:ext uri="{0D108BD9-81ED-4DB2-BD59-A6C34878D82A}">
                    <a16:rowId xmlns:a16="http://schemas.microsoft.com/office/drawing/2014/main" val="10001"/>
                  </a:ext>
                </a:extLst>
              </a:tr>
              <a:tr h="502920">
                <a:tc>
                  <a:txBody>
                    <a:bodyPr/>
                    <a:lstStyle/>
                    <a:p>
                      <a:pPr marL="0" indent="0" algn="l">
                        <a:buNone/>
                      </a:pPr>
                      <a:r>
                        <a:rPr lang="en-US" sz="1400" dirty="0">
                          <a:solidFill>
                            <a:srgbClr val="1B2B34"/>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2.495</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302.5</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17.39</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0.913</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400" dirty="0">
                          <a:solidFill>
                            <a:srgbClr val="1B2B34"/>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3.217</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583.8</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24.16</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0.831</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400" dirty="0">
                          <a:solidFill>
                            <a:srgbClr val="1B2B34"/>
                          </a:solidFill>
                          <a:latin typeface="Calibri" pitchFamily="34" charset="0"/>
                          <a:ea typeface="Calibri" pitchFamily="34" charset="-122"/>
                          <a:cs typeface="Calibri" pitchFamily="34" charset="-120"/>
                        </a:rPr>
                        <a:t>Linear Regression</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6.221</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267.5</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16.36</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0.923</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rnote"/>
          <p:cNvSpPr/>
          <p:nvPr/>
        </p:nvSpPr>
        <p:spPr>
          <a:xfrm>
            <a:off x="457200" y="3977640"/>
            <a:ext cx="8229600" cy="594360"/>
          </a:xfrm>
          <a:prstGeom prst="rect">
            <a:avLst/>
          </a:prstGeom>
          <a:solidFill>
            <a:schemeClr val="bg2"/>
          </a:solidFill>
          <a:ln w="12700">
            <a:solidFill>
              <a:schemeClr val="bg2"/>
            </a:solidFill>
            <a:prstDash val="solid"/>
          </a:ln>
        </p:spPr>
      </p:sp>
      <p:sp>
        <p:nvSpPr>
          <p:cNvPr id="5" name="Text 2"/>
          <p:cNvSpPr txBox="1"/>
          <p:nvPr/>
        </p:nvSpPr>
        <p:spPr>
          <a:xfrm>
            <a:off x="640080" y="3977640"/>
            <a:ext cx="7863840" cy="594360"/>
          </a:xfrm>
          <a:prstGeom prst="rect">
            <a:avLst/>
          </a:prstGeom>
          <a:noFill/>
          <a:ln/>
        </p:spPr>
        <p:txBody>
          <a:bodyPr wrap="square" lIns="0" tIns="0" rIns="0" bIns="0" rtlCol="0" anchor="ctr"/>
          <a:lstStyle/>
          <a:p>
            <a:pPr marL="0" indent="0">
              <a:buNone/>
            </a:pPr>
            <a:r>
              <a:rPr lang="en-US" sz="1300" dirty="0">
                <a:solidFill>
                  <a:schemeClr val="tx1"/>
                </a:solidFill>
              </a:rPr>
              <a:t>Persistence baseline = "tomorrow equals today". A Random Forest predicting the daily change scored MAE 2.557, RMSE 17.53, R² 0.911.</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Which model is best, and why?</a:t>
            </a:r>
            <a:endParaRPr lang="en-US" sz="2800" dirty="0"/>
          </a:p>
        </p:txBody>
      </p:sp>
      <p:sp>
        <p:nvSpPr>
          <p:cNvPr id="3" name="best"/>
          <p:cNvSpPr/>
          <p:nvPr/>
        </p:nvSpPr>
        <p:spPr>
          <a:xfrm>
            <a:off x="457200" y="1234440"/>
            <a:ext cx="2926080" cy="2560320"/>
          </a:xfrm>
          <a:prstGeom prst="rect">
            <a:avLst/>
          </a:prstGeom>
          <a:solidFill>
            <a:srgbClr val="1D7A8C"/>
          </a:solidFill>
          <a:ln w="12700">
            <a:solidFill>
              <a:srgbClr val="1D7A8C"/>
            </a:solidFill>
            <a:prstDash val="solid"/>
          </a:ln>
        </p:spPr>
      </p:sp>
      <p:sp>
        <p:nvSpPr>
          <p:cNvPr id="4" name="Text 2"/>
          <p:cNvSpPr txBox="1"/>
          <p:nvPr/>
        </p:nvSpPr>
        <p:spPr>
          <a:xfrm>
            <a:off x="640080" y="1371600"/>
            <a:ext cx="2560320" cy="365760"/>
          </a:xfrm>
          <a:prstGeom prst="rect">
            <a:avLst/>
          </a:prstGeom>
          <a:noFill/>
          <a:ln/>
        </p:spPr>
        <p:txBody>
          <a:bodyPr wrap="square" lIns="0" tIns="0" rIns="0" bIns="0" rtlCol="0" anchor="t"/>
          <a:lstStyle/>
          <a:p>
            <a:pPr marL="0" indent="0">
              <a:buNone/>
            </a:pPr>
            <a:r>
              <a:rPr lang="en-US" sz="1600" dirty="0">
                <a:solidFill>
                  <a:schemeClr val="bg2"/>
                </a:solidFill>
              </a:rPr>
              <a:t>Best model</a:t>
            </a:r>
            <a:endParaRPr lang="en-US" sz="1600" dirty="0"/>
          </a:p>
        </p:txBody>
      </p:sp>
      <p:sp>
        <p:nvSpPr>
          <p:cNvPr id="5" name="Text 3"/>
          <p:cNvSpPr txBox="1"/>
          <p:nvPr/>
        </p:nvSpPr>
        <p:spPr>
          <a:xfrm>
            <a:off x="640080" y="1783080"/>
            <a:ext cx="2560320" cy="822960"/>
          </a:xfrm>
          <a:prstGeom prst="rect">
            <a:avLst/>
          </a:prstGeom>
          <a:noFill/>
          <a:ln/>
        </p:spPr>
        <p:txBody>
          <a:bodyPr wrap="square" lIns="0" tIns="0" rIns="0" bIns="0" rtlCol="0" anchor="t"/>
          <a:lstStyle/>
          <a:p>
            <a:pPr marL="0" indent="0">
              <a:buNone/>
            </a:pPr>
            <a:r>
              <a:rPr lang="en-US" sz="2800" b="1" dirty="0">
                <a:solidFill>
                  <a:schemeClr val="bg1"/>
                </a:solidFill>
                <a:latin typeface="Cambria" pitchFamily="34" charset="0"/>
                <a:ea typeface="Cambria" pitchFamily="34" charset="-122"/>
                <a:cs typeface="Cambria" pitchFamily="34" charset="-120"/>
              </a:rPr>
              <a:t>Random Forest</a:t>
            </a:r>
            <a:endParaRPr lang="en-US" sz="2800" dirty="0"/>
          </a:p>
        </p:txBody>
      </p:sp>
      <p:sp>
        <p:nvSpPr>
          <p:cNvPr id="6" name="Text 4"/>
          <p:cNvSpPr txBox="1"/>
          <p:nvPr/>
        </p:nvSpPr>
        <p:spPr>
          <a:xfrm>
            <a:off x="640080" y="2743200"/>
            <a:ext cx="2560320" cy="914400"/>
          </a:xfrm>
          <a:prstGeom prst="rect">
            <a:avLst/>
          </a:prstGeom>
          <a:noFill/>
          <a:ln/>
        </p:spPr>
        <p:txBody>
          <a:bodyPr wrap="square" lIns="0" tIns="0" rIns="0" bIns="0" rtlCol="0" anchor="t"/>
          <a:lstStyle/>
          <a:p>
            <a:pPr marL="0" indent="0">
              <a:buNone/>
            </a:pPr>
            <a:r>
              <a:rPr lang="en-US" sz="1400" dirty="0">
                <a:solidFill>
                  <a:schemeClr val="bg1"/>
                </a:solidFill>
              </a:rPr>
              <a:t>Lowest error (MAE 2.49) of the three machine-learning models, with R² 0.913</a:t>
            </a:r>
            <a:endParaRPr lang="en-US" sz="1400" dirty="0"/>
          </a:p>
        </p:txBody>
      </p:sp>
      <p:sp>
        <p:nvSpPr>
          <p:cNvPr id="7" name="why0"/>
          <p:cNvSpPr/>
          <p:nvPr/>
        </p:nvSpPr>
        <p:spPr>
          <a:xfrm>
            <a:off x="3566160" y="1234440"/>
            <a:ext cx="5120640" cy="804672"/>
          </a:xfrm>
          <a:prstGeom prst="rect">
            <a:avLst/>
          </a:prstGeom>
          <a:solidFill>
            <a:schemeClr val="bg2"/>
          </a:solidFill>
          <a:ln w="12700">
            <a:solidFill>
              <a:schemeClr val="bg2"/>
            </a:solidFill>
            <a:prstDash val="solid"/>
          </a:ln>
        </p:spPr>
      </p:sp>
      <p:sp>
        <p:nvSpPr>
          <p:cNvPr id="8" name="Text 6"/>
          <p:cNvSpPr txBox="1"/>
          <p:nvPr/>
        </p:nvSpPr>
        <p:spPr>
          <a:xfrm>
            <a:off x="3703320" y="1298448"/>
            <a:ext cx="4846320" cy="256032"/>
          </a:xfrm>
          <a:prstGeom prst="rect">
            <a:avLst/>
          </a:prstGeom>
          <a:noFill/>
          <a:ln/>
        </p:spPr>
        <p:txBody>
          <a:bodyPr wrap="square" lIns="0" tIns="0" rIns="0" bIns="0" rtlCol="0" anchor="t"/>
          <a:lstStyle/>
          <a:p>
            <a:pPr marL="0" indent="0">
              <a:buNone/>
            </a:pPr>
            <a:r>
              <a:rPr lang="en-US" sz="1400" b="1" dirty="0">
                <a:solidFill>
                  <a:schemeClr val="tx2"/>
                </a:solidFill>
              </a:rPr>
              <a:t>Why Random Forest wins</a:t>
            </a:r>
            <a:endParaRPr lang="en-US" sz="1400" dirty="0"/>
          </a:p>
        </p:txBody>
      </p:sp>
      <p:sp>
        <p:nvSpPr>
          <p:cNvPr id="9" name="Text 7"/>
          <p:cNvSpPr txBox="1"/>
          <p:nvPr/>
        </p:nvSpPr>
        <p:spPr>
          <a:xfrm>
            <a:off x="3703320" y="1563624"/>
            <a:ext cx="4846320" cy="457200"/>
          </a:xfrm>
          <a:prstGeom prst="rect">
            <a:avLst/>
          </a:prstGeom>
          <a:noFill/>
          <a:ln/>
        </p:spPr>
        <p:txBody>
          <a:bodyPr wrap="square" lIns="0" tIns="0" rIns="0" bIns="0" rtlCol="0" anchor="t"/>
          <a:lstStyle/>
          <a:p>
            <a:pPr marL="0" indent="0">
              <a:buNone/>
            </a:pPr>
            <a:r>
              <a:rPr lang="en-US" sz="1200" dirty="0">
                <a:solidFill>
                  <a:schemeClr val="tx1"/>
                </a:solidFill>
              </a:rPr>
              <a:t>It averages many trees, so it captures non-linear weather effects and is steadier than a single tree. Its MAE is the lowest of the three.</a:t>
            </a:r>
            <a:endParaRPr lang="en-US" sz="1200" dirty="0"/>
          </a:p>
        </p:txBody>
      </p:sp>
      <p:sp>
        <p:nvSpPr>
          <p:cNvPr id="10" name="why1"/>
          <p:cNvSpPr/>
          <p:nvPr/>
        </p:nvSpPr>
        <p:spPr>
          <a:xfrm>
            <a:off x="3566160" y="2121408"/>
            <a:ext cx="5120640" cy="804672"/>
          </a:xfrm>
          <a:prstGeom prst="rect">
            <a:avLst/>
          </a:prstGeom>
          <a:solidFill>
            <a:schemeClr val="bg2"/>
          </a:solidFill>
          <a:ln w="12700">
            <a:solidFill>
              <a:schemeClr val="bg2"/>
            </a:solidFill>
            <a:prstDash val="solid"/>
          </a:ln>
        </p:spPr>
      </p:sp>
      <p:sp>
        <p:nvSpPr>
          <p:cNvPr id="11" name="Text 9"/>
          <p:cNvSpPr txBox="1"/>
          <p:nvPr/>
        </p:nvSpPr>
        <p:spPr>
          <a:xfrm>
            <a:off x="3703320" y="2185416"/>
            <a:ext cx="4846320" cy="256032"/>
          </a:xfrm>
          <a:prstGeom prst="rect">
            <a:avLst/>
          </a:prstGeom>
          <a:noFill/>
          <a:ln/>
        </p:spPr>
        <p:txBody>
          <a:bodyPr wrap="square" lIns="0" tIns="0" rIns="0" bIns="0" rtlCol="0" anchor="t"/>
          <a:lstStyle/>
          <a:p>
            <a:pPr marL="0" indent="0">
              <a:buNone/>
            </a:pPr>
            <a:r>
              <a:rPr lang="en-US" sz="1400" b="1" dirty="0">
                <a:solidFill>
                  <a:schemeClr val="tx2"/>
                </a:solidFill>
              </a:rPr>
              <a:t>Linear Regression</a:t>
            </a:r>
            <a:endParaRPr lang="en-US" sz="1400" dirty="0"/>
          </a:p>
        </p:txBody>
      </p:sp>
      <p:sp>
        <p:nvSpPr>
          <p:cNvPr id="12" name="Text 10"/>
          <p:cNvSpPr txBox="1"/>
          <p:nvPr/>
        </p:nvSpPr>
        <p:spPr>
          <a:xfrm>
            <a:off x="3703320" y="2450592"/>
            <a:ext cx="4846320" cy="457200"/>
          </a:xfrm>
          <a:prstGeom prst="rect">
            <a:avLst/>
          </a:prstGeom>
          <a:noFill/>
          <a:ln/>
        </p:spPr>
        <p:txBody>
          <a:bodyPr wrap="square" lIns="0" tIns="0" rIns="0" bIns="0" rtlCol="0" anchor="t"/>
          <a:lstStyle/>
          <a:p>
            <a:pPr marL="0" indent="0">
              <a:buNone/>
            </a:pPr>
            <a:r>
              <a:rPr lang="en-US" sz="1200" dirty="0">
                <a:solidFill>
                  <a:schemeClr val="tx1"/>
                </a:solidFill>
              </a:rPr>
              <a:t>Slightly better RMSE and R², but its MAE is 6.22, about 2.5 times larger. A straight line fits the many low-flow days poorly.</a:t>
            </a:r>
            <a:endParaRPr lang="en-US" sz="1200" dirty="0"/>
          </a:p>
        </p:txBody>
      </p:sp>
      <p:sp>
        <p:nvSpPr>
          <p:cNvPr id="13" name="why2"/>
          <p:cNvSpPr/>
          <p:nvPr/>
        </p:nvSpPr>
        <p:spPr>
          <a:xfrm>
            <a:off x="3566160" y="3008376"/>
            <a:ext cx="5120640" cy="804672"/>
          </a:xfrm>
          <a:prstGeom prst="rect">
            <a:avLst/>
          </a:prstGeom>
          <a:solidFill>
            <a:schemeClr val="bg2"/>
          </a:solidFill>
          <a:ln w="12700">
            <a:solidFill>
              <a:schemeClr val="bg2"/>
            </a:solidFill>
            <a:prstDash val="solid"/>
          </a:ln>
        </p:spPr>
      </p:sp>
      <p:sp>
        <p:nvSpPr>
          <p:cNvPr id="14" name="Text 12"/>
          <p:cNvSpPr txBox="1"/>
          <p:nvPr/>
        </p:nvSpPr>
        <p:spPr>
          <a:xfrm>
            <a:off x="3703320" y="3072384"/>
            <a:ext cx="4846320" cy="256032"/>
          </a:xfrm>
          <a:prstGeom prst="rect">
            <a:avLst/>
          </a:prstGeom>
          <a:noFill/>
          <a:ln/>
        </p:spPr>
        <p:txBody>
          <a:bodyPr wrap="square" lIns="0" tIns="0" rIns="0" bIns="0" rtlCol="0" anchor="t"/>
          <a:lstStyle/>
          <a:p>
            <a:pPr marL="0" indent="0">
              <a:buNone/>
            </a:pPr>
            <a:r>
              <a:rPr lang="en-US" sz="1400" b="1" dirty="0">
                <a:solidFill>
                  <a:schemeClr val="tx2"/>
                </a:solidFill>
              </a:rPr>
              <a:t>Decision Tree</a:t>
            </a:r>
            <a:endParaRPr lang="en-US" sz="1400" dirty="0"/>
          </a:p>
        </p:txBody>
      </p:sp>
      <p:sp>
        <p:nvSpPr>
          <p:cNvPr id="15" name="Text 13"/>
          <p:cNvSpPr txBox="1"/>
          <p:nvPr/>
        </p:nvSpPr>
        <p:spPr>
          <a:xfrm>
            <a:off x="3703320" y="3337560"/>
            <a:ext cx="4846320" cy="457200"/>
          </a:xfrm>
          <a:prstGeom prst="rect">
            <a:avLst/>
          </a:prstGeom>
          <a:noFill/>
          <a:ln/>
        </p:spPr>
        <p:txBody>
          <a:bodyPr wrap="square" lIns="0" tIns="0" rIns="0" bIns="0" rtlCol="0" anchor="t"/>
          <a:lstStyle/>
          <a:p>
            <a:pPr marL="0" indent="0">
              <a:buNone/>
            </a:pPr>
            <a:r>
              <a:rPr lang="en-US" sz="1200" dirty="0">
                <a:solidFill>
                  <a:schemeClr val="tx1"/>
                </a:solidFill>
              </a:rPr>
              <a:t>One tree overfits the training data: the highest RMSE (24.16) and the lowest R² (0.831).</a:t>
            </a:r>
            <a:endParaRPr lang="en-US" sz="1200" dirty="0"/>
          </a:p>
        </p:txBody>
      </p:sp>
      <p:sp>
        <p:nvSpPr>
          <p:cNvPr id="16" name="bnote"/>
          <p:cNvSpPr/>
          <p:nvPr/>
        </p:nvSpPr>
        <p:spPr>
          <a:xfrm>
            <a:off x="457200" y="4023360"/>
            <a:ext cx="8229600" cy="548640"/>
          </a:xfrm>
          <a:prstGeom prst="rect">
            <a:avLst/>
          </a:prstGeom>
          <a:solidFill>
            <a:schemeClr val="tx2"/>
          </a:solidFill>
          <a:ln w="12700">
            <a:solidFill>
              <a:schemeClr val="tx2"/>
            </a:solidFill>
            <a:prstDash val="solid"/>
          </a:ln>
        </p:spPr>
      </p:sp>
      <p:sp>
        <p:nvSpPr>
          <p:cNvPr id="17" name="Text 15"/>
          <p:cNvSpPr txBox="1"/>
          <p:nvPr/>
        </p:nvSpPr>
        <p:spPr>
          <a:xfrm>
            <a:off x="640080" y="4023360"/>
            <a:ext cx="7863840" cy="548640"/>
          </a:xfrm>
          <a:prstGeom prst="rect">
            <a:avLst/>
          </a:prstGeom>
          <a:noFill/>
          <a:ln/>
        </p:spPr>
        <p:txBody>
          <a:bodyPr wrap="square" lIns="0" tIns="0" rIns="0" bIns="0" rtlCol="0" anchor="ctr"/>
          <a:lstStyle/>
          <a:p>
            <a:pPr marL="0" indent="0">
              <a:buNone/>
            </a:pPr>
            <a:r>
              <a:rPr lang="en-US" sz="1300" dirty="0">
                <a:solidFill>
                  <a:schemeClr val="bg1"/>
                </a:solidFill>
              </a:rPr>
              <a:t>The persistence baseline (MAE 1.97) still beats all three, so the models' real value is in flood peaks and longer lead times.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bg1"/>
                </a:solidFill>
              </a:rPr>
              <a:t>A strong benchmark: persistence</a:t>
            </a:r>
            <a:endParaRPr lang="en-US" sz="2800" dirty="0"/>
          </a:p>
        </p:txBody>
      </p:sp>
      <p:sp>
        <p:nvSpPr>
          <p:cNvPr id="3" name="cmp0"/>
          <p:cNvSpPr/>
          <p:nvPr/>
        </p:nvSpPr>
        <p:spPr>
          <a:xfrm>
            <a:off x="457200" y="1280160"/>
            <a:ext cx="4023360" cy="1371600"/>
          </a:xfrm>
          <a:prstGeom prst="rect">
            <a:avLst/>
          </a:prstGeom>
          <a:solidFill>
            <a:srgbClr val="1D7A8C"/>
          </a:solidFill>
          <a:ln w="12700">
            <a:solidFill>
              <a:srgbClr val="1D7A8C"/>
            </a:solidFill>
            <a:prstDash val="solid"/>
          </a:ln>
        </p:spPr>
      </p:sp>
      <p:sp>
        <p:nvSpPr>
          <p:cNvPr id="4" name="Text 2"/>
          <p:cNvSpPr txBox="1"/>
          <p:nvPr/>
        </p:nvSpPr>
        <p:spPr>
          <a:xfrm>
            <a:off x="685800" y="1417320"/>
            <a:ext cx="3566160" cy="365760"/>
          </a:xfrm>
          <a:prstGeom prst="rect">
            <a:avLst/>
          </a:prstGeom>
          <a:noFill/>
          <a:ln/>
        </p:spPr>
        <p:txBody>
          <a:bodyPr wrap="square" lIns="0" tIns="0" rIns="0" bIns="0" rtlCol="0" anchor="t"/>
          <a:lstStyle/>
          <a:p>
            <a:pPr marL="0" indent="0">
              <a:buNone/>
            </a:pPr>
            <a:r>
              <a:rPr lang="en-US" sz="1600" dirty="0">
                <a:solidFill>
                  <a:schemeClr val="bg2"/>
                </a:solidFill>
              </a:rPr>
              <a:t>Persistence baseline</a:t>
            </a:r>
            <a:endParaRPr lang="en-US" sz="1600" dirty="0"/>
          </a:p>
        </p:txBody>
      </p:sp>
      <p:sp>
        <p:nvSpPr>
          <p:cNvPr id="5" name="Text 3"/>
          <p:cNvSpPr txBox="1"/>
          <p:nvPr/>
        </p:nvSpPr>
        <p:spPr>
          <a:xfrm>
            <a:off x="685800" y="1828800"/>
            <a:ext cx="3566160" cy="640080"/>
          </a:xfrm>
          <a:prstGeom prst="rect">
            <a:avLst/>
          </a:prstGeom>
          <a:noFill/>
          <a:ln/>
        </p:spPr>
        <p:txBody>
          <a:bodyPr wrap="square" lIns="0" tIns="0" rIns="0" bIns="0" rtlCol="0" anchor="t"/>
          <a:lstStyle/>
          <a:p>
            <a:pPr marL="0" indent="0">
              <a:buNone/>
            </a:pPr>
            <a:r>
              <a:rPr lang="en-US" sz="2600" b="1" dirty="0">
                <a:solidFill>
                  <a:schemeClr val="accent2"/>
                </a:solidFill>
                <a:latin typeface="Cambria" pitchFamily="34" charset="0"/>
                <a:ea typeface="Cambria" pitchFamily="34" charset="-122"/>
                <a:cs typeface="Cambria" pitchFamily="34" charset="-120"/>
              </a:rPr>
              <a:t>MAE 1.97 · R² 0.942</a:t>
            </a:r>
            <a:endParaRPr lang="en-US" sz="2600" dirty="0"/>
          </a:p>
        </p:txBody>
      </p:sp>
      <p:sp>
        <p:nvSpPr>
          <p:cNvPr id="6" name="cmp1"/>
          <p:cNvSpPr/>
          <p:nvPr/>
        </p:nvSpPr>
        <p:spPr>
          <a:xfrm>
            <a:off x="4663440" y="1280160"/>
            <a:ext cx="4023360" cy="1371600"/>
          </a:xfrm>
          <a:prstGeom prst="rect">
            <a:avLst/>
          </a:prstGeom>
          <a:solidFill>
            <a:srgbClr val="1D7A8C"/>
          </a:solidFill>
          <a:ln w="12700">
            <a:solidFill>
              <a:srgbClr val="1D7A8C"/>
            </a:solidFill>
            <a:prstDash val="solid"/>
          </a:ln>
        </p:spPr>
      </p:sp>
      <p:sp>
        <p:nvSpPr>
          <p:cNvPr id="7" name="Text 5"/>
          <p:cNvSpPr txBox="1"/>
          <p:nvPr/>
        </p:nvSpPr>
        <p:spPr>
          <a:xfrm>
            <a:off x="4892040" y="1417320"/>
            <a:ext cx="3566160" cy="365760"/>
          </a:xfrm>
          <a:prstGeom prst="rect">
            <a:avLst/>
          </a:prstGeom>
          <a:noFill/>
          <a:ln/>
        </p:spPr>
        <p:txBody>
          <a:bodyPr wrap="square" lIns="0" tIns="0" rIns="0" bIns="0" rtlCol="0" anchor="t"/>
          <a:lstStyle/>
          <a:p>
            <a:pPr marL="0" indent="0">
              <a:buNone/>
            </a:pPr>
            <a:r>
              <a:rPr lang="en-US" sz="1600" dirty="0">
                <a:solidFill>
                  <a:schemeClr val="bg2"/>
                </a:solidFill>
              </a:rPr>
              <a:t>Random Forest</a:t>
            </a:r>
            <a:endParaRPr lang="en-US" sz="1600" dirty="0"/>
          </a:p>
        </p:txBody>
      </p:sp>
      <p:sp>
        <p:nvSpPr>
          <p:cNvPr id="8" name="Text 6"/>
          <p:cNvSpPr txBox="1"/>
          <p:nvPr/>
        </p:nvSpPr>
        <p:spPr>
          <a:xfrm>
            <a:off x="4892040" y="1828800"/>
            <a:ext cx="3566160" cy="640080"/>
          </a:xfrm>
          <a:prstGeom prst="rect">
            <a:avLst/>
          </a:prstGeom>
          <a:noFill/>
          <a:ln/>
        </p:spPr>
        <p:txBody>
          <a:bodyPr wrap="square" lIns="0" tIns="0" rIns="0" bIns="0" rtlCol="0" anchor="t"/>
          <a:lstStyle/>
          <a:p>
            <a:pPr marL="0" indent="0">
              <a:buNone/>
            </a:pPr>
            <a:r>
              <a:rPr lang="en-US" sz="2600" b="1" dirty="0">
                <a:solidFill>
                  <a:schemeClr val="bg1"/>
                </a:solidFill>
                <a:latin typeface="Cambria" pitchFamily="34" charset="0"/>
                <a:ea typeface="Cambria" pitchFamily="34" charset="-122"/>
                <a:cs typeface="Cambria" pitchFamily="34" charset="-120"/>
              </a:rPr>
              <a:t>MAE 2.49 · R² 0.913</a:t>
            </a:r>
            <a:endParaRPr lang="en-US" sz="2600" dirty="0"/>
          </a:p>
        </p:txBody>
      </p:sp>
      <p:sp>
        <p:nvSpPr>
          <p:cNvPr id="9" name="Text 7"/>
          <p:cNvSpPr txBox="1"/>
          <p:nvPr/>
        </p:nvSpPr>
        <p:spPr>
          <a:xfrm>
            <a:off x="457200" y="2926080"/>
            <a:ext cx="822960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Predicting tomorrow = today is a tough benchmark for next-day forecasts.</a:t>
            </a:r>
            <a:endParaRPr lang="en-US" sz="1600" dirty="0"/>
          </a:p>
          <a:p>
            <a:pPr marL="342900" indent="-342900">
              <a:spcAft>
                <a:spcPts val="800"/>
              </a:spcAft>
              <a:buSzPct val="100000"/>
              <a:buChar char="•"/>
            </a:pPr>
            <a:r>
              <a:rPr lang="en-US" sz="1600" dirty="0">
                <a:solidFill>
                  <a:schemeClr val="bg1"/>
                </a:solidFill>
              </a:rPr>
              <a:t>No model beat it on any metric, including a Random Forest that predicts the daily change (MAE 2.56).</a:t>
            </a:r>
            <a:endParaRPr lang="en-US" sz="1600" dirty="0"/>
          </a:p>
          <a:p>
            <a:pPr marL="342900" indent="-342900">
              <a:spcAft>
                <a:spcPts val="800"/>
              </a:spcAft>
              <a:buSzPct val="100000"/>
              <a:buChar char="•"/>
            </a:pPr>
            <a:r>
              <a:rPr lang="en-US" sz="1600" dirty="0">
                <a:solidFill>
                  <a:schemeClr val="bg1"/>
                </a:solidFill>
              </a:rPr>
              <a:t>Value from machine learning must come from flood peaks and multi-day lead times.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Feature importance: today's discharge dominates</a:t>
            </a:r>
            <a:endParaRPr lang="en-US" sz="2800" dirty="0"/>
          </a:p>
        </p:txBody>
      </p:sp>
      <p:graphicFrame>
        <p:nvGraphicFramePr>
          <p:cNvPr id="3" name="Chart 0"/>
          <p:cNvGraphicFramePr/>
          <p:nvPr/>
        </p:nvGraphicFramePr>
        <p:xfrm>
          <a:off x="365760" y="1188720"/>
          <a:ext cx="56692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4" name="imp"/>
          <p:cNvSpPr/>
          <p:nvPr/>
        </p:nvSpPr>
        <p:spPr>
          <a:xfrm>
            <a:off x="6309360" y="1280160"/>
            <a:ext cx="2377440" cy="3200400"/>
          </a:xfrm>
          <a:prstGeom prst="rect">
            <a:avLst/>
          </a:prstGeom>
          <a:solidFill>
            <a:schemeClr val="bg2"/>
          </a:solidFill>
          <a:ln w="12700">
            <a:solidFill>
              <a:schemeClr val="bg2"/>
            </a:solidFill>
            <a:prstDash val="solid"/>
          </a:ln>
        </p:spPr>
      </p:sp>
      <p:sp>
        <p:nvSpPr>
          <p:cNvPr id="5" name="Text 2"/>
          <p:cNvSpPr txBox="1"/>
          <p:nvPr/>
        </p:nvSpPr>
        <p:spPr>
          <a:xfrm>
            <a:off x="6492240" y="1417320"/>
            <a:ext cx="2011680" cy="73152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82%</a:t>
            </a:r>
            <a:endParaRPr lang="en-US" sz="4400" dirty="0"/>
          </a:p>
        </p:txBody>
      </p:sp>
      <p:sp>
        <p:nvSpPr>
          <p:cNvPr id="6" name="Text 3"/>
          <p:cNvSpPr txBox="1"/>
          <p:nvPr/>
        </p:nvSpPr>
        <p:spPr>
          <a:xfrm>
            <a:off x="6492240" y="2286000"/>
            <a:ext cx="2011680" cy="2011680"/>
          </a:xfrm>
          <a:prstGeom prst="rect">
            <a:avLst/>
          </a:prstGeom>
          <a:noFill/>
          <a:ln/>
        </p:spPr>
        <p:txBody>
          <a:bodyPr wrap="square" lIns="0" tIns="0" rIns="0" bIns="0" rtlCol="0" anchor="t"/>
          <a:lstStyle/>
          <a:p>
            <a:pPr marL="0" indent="0">
              <a:buNone/>
            </a:pPr>
            <a:r>
              <a:rPr lang="en-US" sz="1400" dirty="0">
                <a:solidFill>
                  <a:schemeClr val="tx1"/>
                </a:solidFill>
              </a:rPr>
              <a:t>of importance sits on one feature. Weather and rain lags add only small gains on top.</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Accuracy on typical days and flood peaks</a:t>
            </a:r>
            <a:endParaRPr lang="en-US" sz="2800" dirty="0"/>
          </a:p>
        </p:txBody>
      </p:sp>
      <p:pic>
        <p:nvPicPr>
          <p:cNvPr id="3" name="Image 0" descr="Actual vs predicted discharge"/>
          <p:cNvPicPr>
            <a:picLocks noChangeAspect="1"/>
          </p:cNvPicPr>
          <p:nvPr/>
        </p:nvPicPr>
        <p:blipFill>
          <a:blip r:embed="rId3"/>
          <a:stretch>
            <a:fillRect/>
          </a:stretch>
        </p:blipFill>
        <p:spPr>
          <a:xfrm>
            <a:off x="457200" y="1188720"/>
            <a:ext cx="4206240" cy="3310128"/>
          </a:xfrm>
          <a:prstGeom prst="rect">
            <a:avLst/>
          </a:prstGeom>
        </p:spPr>
      </p:pic>
      <p:sp>
        <p:nvSpPr>
          <p:cNvPr id="4" name="er0"/>
          <p:cNvSpPr/>
          <p:nvPr/>
        </p:nvSpPr>
        <p:spPr>
          <a:xfrm>
            <a:off x="4937760" y="1188720"/>
            <a:ext cx="1783080" cy="1280160"/>
          </a:xfrm>
          <a:prstGeom prst="rect">
            <a:avLst/>
          </a:prstGeom>
          <a:solidFill>
            <a:schemeClr val="bg2"/>
          </a:solidFill>
          <a:ln w="12700">
            <a:solidFill>
              <a:schemeClr val="bg2"/>
            </a:solidFill>
            <a:prstDash val="solid"/>
          </a:ln>
        </p:spPr>
      </p:sp>
      <p:sp>
        <p:nvSpPr>
          <p:cNvPr id="5" name="Text 2"/>
          <p:cNvSpPr txBox="1"/>
          <p:nvPr/>
        </p:nvSpPr>
        <p:spPr>
          <a:xfrm>
            <a:off x="5074920" y="1325880"/>
            <a:ext cx="155448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0.05</a:t>
            </a:r>
            <a:endParaRPr lang="en-US" sz="2800" dirty="0"/>
          </a:p>
        </p:txBody>
      </p:sp>
      <p:sp>
        <p:nvSpPr>
          <p:cNvPr id="6" name="Text 3"/>
          <p:cNvSpPr txBox="1"/>
          <p:nvPr/>
        </p:nvSpPr>
        <p:spPr>
          <a:xfrm>
            <a:off x="5074920" y="1920240"/>
            <a:ext cx="1554480" cy="502920"/>
          </a:xfrm>
          <a:prstGeom prst="rect">
            <a:avLst/>
          </a:prstGeom>
          <a:noFill/>
          <a:ln/>
        </p:spPr>
        <p:txBody>
          <a:bodyPr wrap="square" lIns="0" tIns="0" rIns="0" bIns="0" rtlCol="0" anchor="t"/>
          <a:lstStyle/>
          <a:p>
            <a:pPr marL="0" indent="0">
              <a:buNone/>
            </a:pPr>
            <a:r>
              <a:rPr lang="en-US" sz="1300" dirty="0">
                <a:solidFill>
                  <a:schemeClr val="tx1"/>
                </a:solidFill>
              </a:rPr>
              <a:t>median error m³/s</a:t>
            </a:r>
            <a:endParaRPr lang="en-US" sz="1300" dirty="0"/>
          </a:p>
        </p:txBody>
      </p:sp>
      <p:sp>
        <p:nvSpPr>
          <p:cNvPr id="7" name="er1"/>
          <p:cNvSpPr/>
          <p:nvPr/>
        </p:nvSpPr>
        <p:spPr>
          <a:xfrm>
            <a:off x="6858000" y="1188720"/>
            <a:ext cx="1783080" cy="1280160"/>
          </a:xfrm>
          <a:prstGeom prst="rect">
            <a:avLst/>
          </a:prstGeom>
          <a:solidFill>
            <a:schemeClr val="bg2"/>
          </a:solidFill>
          <a:ln w="12700">
            <a:solidFill>
              <a:schemeClr val="bg2"/>
            </a:solidFill>
            <a:prstDash val="solid"/>
          </a:ln>
        </p:spPr>
      </p:sp>
      <p:sp>
        <p:nvSpPr>
          <p:cNvPr id="8" name="Text 5"/>
          <p:cNvSpPr txBox="1"/>
          <p:nvPr/>
        </p:nvSpPr>
        <p:spPr>
          <a:xfrm>
            <a:off x="6995160" y="1325880"/>
            <a:ext cx="155448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1.47</a:t>
            </a:r>
            <a:endParaRPr lang="en-US" sz="2800" dirty="0"/>
          </a:p>
        </p:txBody>
      </p:sp>
      <p:sp>
        <p:nvSpPr>
          <p:cNvPr id="9" name="Text 6"/>
          <p:cNvSpPr txBox="1"/>
          <p:nvPr/>
        </p:nvSpPr>
        <p:spPr>
          <a:xfrm>
            <a:off x="6995160" y="1920240"/>
            <a:ext cx="1554480" cy="502920"/>
          </a:xfrm>
          <a:prstGeom prst="rect">
            <a:avLst/>
          </a:prstGeom>
          <a:noFill/>
          <a:ln/>
        </p:spPr>
        <p:txBody>
          <a:bodyPr wrap="square" lIns="0" tIns="0" rIns="0" bIns="0" rtlCol="0" anchor="t"/>
          <a:lstStyle/>
          <a:p>
            <a:pPr marL="0" indent="0">
              <a:buNone/>
            </a:pPr>
            <a:r>
              <a:rPr lang="en-US" sz="1300" dirty="0">
                <a:solidFill>
                  <a:schemeClr val="tx1"/>
                </a:solidFill>
              </a:rPr>
              <a:t>90th percentile error</a:t>
            </a:r>
            <a:endParaRPr lang="en-US" sz="1300" dirty="0"/>
          </a:p>
        </p:txBody>
      </p:sp>
      <p:sp>
        <p:nvSpPr>
          <p:cNvPr id="10" name="er2"/>
          <p:cNvSpPr/>
          <p:nvPr/>
        </p:nvSpPr>
        <p:spPr>
          <a:xfrm>
            <a:off x="4937760" y="2606040"/>
            <a:ext cx="1783080" cy="1280160"/>
          </a:xfrm>
          <a:prstGeom prst="rect">
            <a:avLst/>
          </a:prstGeom>
          <a:solidFill>
            <a:schemeClr val="bg2"/>
          </a:solidFill>
          <a:ln w="12700">
            <a:solidFill>
              <a:schemeClr val="bg2"/>
            </a:solidFill>
            <a:prstDash val="solid"/>
          </a:ln>
        </p:spPr>
      </p:sp>
      <p:sp>
        <p:nvSpPr>
          <p:cNvPr id="11" name="Text 8"/>
          <p:cNvSpPr txBox="1"/>
          <p:nvPr/>
        </p:nvSpPr>
        <p:spPr>
          <a:xfrm>
            <a:off x="5074920" y="2743200"/>
            <a:ext cx="155448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2.49</a:t>
            </a:r>
            <a:endParaRPr lang="en-US" sz="2800" dirty="0"/>
          </a:p>
        </p:txBody>
      </p:sp>
      <p:sp>
        <p:nvSpPr>
          <p:cNvPr id="12" name="Text 9"/>
          <p:cNvSpPr txBox="1"/>
          <p:nvPr/>
        </p:nvSpPr>
        <p:spPr>
          <a:xfrm>
            <a:off x="5074920" y="3337560"/>
            <a:ext cx="1554480" cy="502920"/>
          </a:xfrm>
          <a:prstGeom prst="rect">
            <a:avLst/>
          </a:prstGeom>
          <a:noFill/>
          <a:ln/>
        </p:spPr>
        <p:txBody>
          <a:bodyPr wrap="square" lIns="0" tIns="0" rIns="0" bIns="0" rtlCol="0" anchor="t"/>
          <a:lstStyle/>
          <a:p>
            <a:pPr marL="0" indent="0">
              <a:buNone/>
            </a:pPr>
            <a:r>
              <a:rPr lang="en-US" sz="1300" dirty="0">
                <a:solidFill>
                  <a:schemeClr val="tx1"/>
                </a:solidFill>
              </a:rPr>
              <a:t>mean error (MAE)</a:t>
            </a:r>
            <a:endParaRPr lang="en-US" sz="1300" dirty="0"/>
          </a:p>
        </p:txBody>
      </p:sp>
      <p:sp>
        <p:nvSpPr>
          <p:cNvPr id="13" name="er3"/>
          <p:cNvSpPr/>
          <p:nvPr/>
        </p:nvSpPr>
        <p:spPr>
          <a:xfrm>
            <a:off x="6858000" y="2606040"/>
            <a:ext cx="1783080" cy="1280160"/>
          </a:xfrm>
          <a:prstGeom prst="rect">
            <a:avLst/>
          </a:prstGeom>
          <a:solidFill>
            <a:schemeClr val="bg2"/>
          </a:solidFill>
          <a:ln w="12700">
            <a:solidFill>
              <a:schemeClr val="bg2"/>
            </a:solidFill>
            <a:prstDash val="solid"/>
          </a:ln>
        </p:spPr>
      </p:sp>
      <p:sp>
        <p:nvSpPr>
          <p:cNvPr id="14" name="Text 11"/>
          <p:cNvSpPr txBox="1"/>
          <p:nvPr/>
        </p:nvSpPr>
        <p:spPr>
          <a:xfrm>
            <a:off x="6995160" y="2743200"/>
            <a:ext cx="1554480" cy="548640"/>
          </a:xfrm>
          <a:prstGeom prst="rect">
            <a:avLst/>
          </a:prstGeom>
          <a:noFill/>
          <a:ln/>
        </p:spPr>
        <p:txBody>
          <a:bodyPr wrap="square" lIns="0" tIns="0" rIns="0" bIns="0" rtlCol="0" anchor="t"/>
          <a:lstStyle/>
          <a:p>
            <a:pPr marL="0" indent="0">
              <a:buNone/>
            </a:pPr>
            <a:r>
              <a:rPr lang="en-US" sz="2800" b="1" dirty="0">
                <a:solidFill>
                  <a:schemeClr val="accent3"/>
                </a:solidFill>
                <a:latin typeface="Cambria" pitchFamily="34" charset="0"/>
                <a:ea typeface="Cambria" pitchFamily="34" charset="-122"/>
                <a:cs typeface="Cambria" pitchFamily="34" charset="-120"/>
              </a:rPr>
              <a:t>109.2</a:t>
            </a:r>
            <a:endParaRPr lang="en-US" sz="2800" dirty="0"/>
          </a:p>
        </p:txBody>
      </p:sp>
      <p:sp>
        <p:nvSpPr>
          <p:cNvPr id="15" name="Text 12"/>
          <p:cNvSpPr txBox="1"/>
          <p:nvPr/>
        </p:nvSpPr>
        <p:spPr>
          <a:xfrm>
            <a:off x="6995160" y="3337560"/>
            <a:ext cx="1554480" cy="502920"/>
          </a:xfrm>
          <a:prstGeom prst="rect">
            <a:avLst/>
          </a:prstGeom>
          <a:noFill/>
          <a:ln/>
        </p:spPr>
        <p:txBody>
          <a:bodyPr wrap="square" lIns="0" tIns="0" rIns="0" bIns="0" rtlCol="0" anchor="t"/>
          <a:lstStyle/>
          <a:p>
            <a:pPr marL="0" indent="0">
              <a:buNone/>
            </a:pPr>
            <a:r>
              <a:rPr lang="en-US" sz="1300" dirty="0">
                <a:solidFill>
                  <a:schemeClr val="tx1"/>
                </a:solidFill>
              </a:rPr>
              <a:t>MAE on the 10 largest days</a:t>
            </a:r>
            <a:endParaRPr lang="en-US" sz="1300" dirty="0"/>
          </a:p>
        </p:txBody>
      </p:sp>
      <p:sp>
        <p:nvSpPr>
          <p:cNvPr id="16" name="Text 13"/>
          <p:cNvSpPr txBox="1"/>
          <p:nvPr/>
        </p:nvSpPr>
        <p:spPr>
          <a:xfrm>
            <a:off x="4937760" y="4069080"/>
            <a:ext cx="3749040" cy="502920"/>
          </a:xfrm>
          <a:prstGeom prst="rect">
            <a:avLst/>
          </a:prstGeom>
          <a:noFill/>
          <a:ln/>
        </p:spPr>
        <p:txBody>
          <a:bodyPr wrap="square" lIns="0" tIns="0" rIns="0" bIns="0" rtlCol="0" anchor="t"/>
          <a:lstStyle/>
          <a:p>
            <a:pPr marL="0" indent="0">
              <a:buNone/>
            </a:pPr>
            <a:r>
              <a:rPr lang="en-US" sz="1300" dirty="0">
                <a:solidFill>
                  <a:srgbClr val="5C6F7A"/>
                </a:solidFill>
              </a:rPr>
              <a:t>Typical days are nearly perfect, but peak days average about 44× the overall error. Worst miss: 341.0 m³/s.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r>
              <a:rPr lang="en-US" dirty="0"/>
              <a:t>workflow  </a:t>
            </a:r>
            <a:r>
              <a:rPr lang="en-US" sz="2800" b="1" dirty="0">
                <a:solidFill>
                  <a:schemeClr val="tx2"/>
                </a:solidFill>
              </a:rPr>
              <a:t>: next-day weather class</a:t>
            </a:r>
            <a:endParaRPr lang="en-US" sz="2800" dirty="0"/>
          </a:p>
        </p:txBody>
      </p:sp>
      <p:sp>
        <p:nvSpPr>
          <p:cNvPr id="3" name="fe0"/>
          <p:cNvSpPr/>
          <p:nvPr/>
        </p:nvSpPr>
        <p:spPr>
          <a:xfrm>
            <a:off x="457200" y="1234440"/>
            <a:ext cx="2651760" cy="1965960"/>
          </a:xfrm>
          <a:prstGeom prst="rect">
            <a:avLst/>
          </a:prstGeom>
          <a:solidFill>
            <a:schemeClr val="bg2"/>
          </a:solidFill>
          <a:ln w="12700">
            <a:solidFill>
              <a:schemeClr val="bg2"/>
            </a:solidFill>
            <a:prstDash val="solid"/>
          </a:ln>
        </p:spPr>
      </p:sp>
      <p:sp>
        <p:nvSpPr>
          <p:cNvPr id="4" name="Text 2"/>
          <p:cNvSpPr txBox="1"/>
          <p:nvPr/>
        </p:nvSpPr>
        <p:spPr>
          <a:xfrm>
            <a:off x="640080" y="1371600"/>
            <a:ext cx="22860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Labels</a:t>
            </a:r>
            <a:endParaRPr lang="en-US" sz="1800" dirty="0"/>
          </a:p>
        </p:txBody>
      </p:sp>
      <p:sp>
        <p:nvSpPr>
          <p:cNvPr id="5" name="Text 3"/>
          <p:cNvSpPr txBox="1"/>
          <p:nvPr/>
        </p:nvSpPr>
        <p:spPr>
          <a:xfrm>
            <a:off x="640080" y="1828800"/>
            <a:ext cx="2286000" cy="1280160"/>
          </a:xfrm>
          <a:prstGeom prst="rect">
            <a:avLst/>
          </a:prstGeom>
          <a:noFill/>
          <a:ln/>
        </p:spPr>
        <p:txBody>
          <a:bodyPr wrap="square" lIns="0" tIns="0" rIns="0" bIns="0" rtlCol="0" anchor="t"/>
          <a:lstStyle/>
          <a:p>
            <a:pPr marL="0" indent="0">
              <a:buNone/>
            </a:pPr>
            <a:r>
              <a:rPr lang="en-US" sz="1400" dirty="0">
                <a:solidFill>
                  <a:schemeClr val="tx1"/>
                </a:solidFill>
              </a:rPr>
              <a:t>Each day is Cold, Cool, Warm or Hot, compared with its own station's normal</a:t>
            </a:r>
            <a:endParaRPr lang="en-US" sz="1400" dirty="0"/>
          </a:p>
        </p:txBody>
      </p:sp>
      <p:sp>
        <p:nvSpPr>
          <p:cNvPr id="6" name="fe1"/>
          <p:cNvSpPr/>
          <p:nvPr/>
        </p:nvSpPr>
        <p:spPr>
          <a:xfrm>
            <a:off x="3246120" y="1234440"/>
            <a:ext cx="2651760" cy="1965960"/>
          </a:xfrm>
          <a:prstGeom prst="rect">
            <a:avLst/>
          </a:prstGeom>
          <a:solidFill>
            <a:schemeClr val="bg2"/>
          </a:solidFill>
          <a:ln w="12700">
            <a:solidFill>
              <a:schemeClr val="bg2"/>
            </a:solidFill>
            <a:prstDash val="solid"/>
          </a:ln>
        </p:spPr>
      </p:sp>
      <p:sp>
        <p:nvSpPr>
          <p:cNvPr id="7" name="Text 5"/>
          <p:cNvSpPr txBox="1"/>
          <p:nvPr/>
        </p:nvSpPr>
        <p:spPr>
          <a:xfrm>
            <a:off x="3429000" y="1371600"/>
            <a:ext cx="22860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Target</a:t>
            </a:r>
            <a:endParaRPr lang="en-US" sz="1800" dirty="0"/>
          </a:p>
        </p:txBody>
      </p:sp>
      <p:sp>
        <p:nvSpPr>
          <p:cNvPr id="8" name="Text 6"/>
          <p:cNvSpPr txBox="1"/>
          <p:nvPr/>
        </p:nvSpPr>
        <p:spPr>
          <a:xfrm>
            <a:off x="3429000" y="1828800"/>
            <a:ext cx="2286000" cy="1280160"/>
          </a:xfrm>
          <a:prstGeom prst="rect">
            <a:avLst/>
          </a:prstGeom>
          <a:noFill/>
          <a:ln/>
        </p:spPr>
        <p:txBody>
          <a:bodyPr wrap="square" lIns="0" tIns="0" rIns="0" bIns="0" rtlCol="0" anchor="t"/>
          <a:lstStyle/>
          <a:p>
            <a:pPr marL="0" indent="0">
              <a:buNone/>
            </a:pPr>
            <a:r>
              <a:rPr lang="en-US" sz="1400" dirty="0">
                <a:solidFill>
                  <a:schemeClr val="tx1"/>
                </a:solidFill>
              </a:rPr>
              <a:t>Tomorrow's class, predicted from today's weather and recent temperatures</a:t>
            </a:r>
            <a:endParaRPr lang="en-US" sz="1400" dirty="0"/>
          </a:p>
        </p:txBody>
      </p:sp>
      <p:sp>
        <p:nvSpPr>
          <p:cNvPr id="9" name="fe2"/>
          <p:cNvSpPr/>
          <p:nvPr/>
        </p:nvSpPr>
        <p:spPr>
          <a:xfrm>
            <a:off x="6035040" y="1234440"/>
            <a:ext cx="2651760" cy="1965960"/>
          </a:xfrm>
          <a:prstGeom prst="rect">
            <a:avLst/>
          </a:prstGeom>
          <a:solidFill>
            <a:schemeClr val="bg2"/>
          </a:solidFill>
          <a:ln w="12700">
            <a:solidFill>
              <a:schemeClr val="bg2"/>
            </a:solidFill>
            <a:prstDash val="solid"/>
          </a:ln>
        </p:spPr>
      </p:sp>
      <p:sp>
        <p:nvSpPr>
          <p:cNvPr id="10" name="Text 8"/>
          <p:cNvSpPr txBox="1"/>
          <p:nvPr/>
        </p:nvSpPr>
        <p:spPr>
          <a:xfrm>
            <a:off x="6217920" y="1371600"/>
            <a:ext cx="22860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Models</a:t>
            </a:r>
            <a:endParaRPr lang="en-US" sz="1800" dirty="0"/>
          </a:p>
        </p:txBody>
      </p:sp>
      <p:sp>
        <p:nvSpPr>
          <p:cNvPr id="11" name="Text 9"/>
          <p:cNvSpPr txBox="1"/>
          <p:nvPr/>
        </p:nvSpPr>
        <p:spPr>
          <a:xfrm>
            <a:off x="6217920" y="1828800"/>
            <a:ext cx="2286000" cy="1280160"/>
          </a:xfrm>
          <a:prstGeom prst="rect">
            <a:avLst/>
          </a:prstGeom>
          <a:noFill/>
          <a:ln/>
        </p:spPr>
        <p:txBody>
          <a:bodyPr wrap="square" lIns="0" tIns="0" rIns="0" bIns="0" rtlCol="0" anchor="t"/>
          <a:lstStyle/>
          <a:p>
            <a:pPr marL="0" indent="0">
              <a:buNone/>
            </a:pPr>
            <a:r>
              <a:rPr lang="en-US" sz="1400" dirty="0">
                <a:solidFill>
                  <a:schemeClr val="tx1"/>
                </a:solidFill>
              </a:rPr>
              <a:t>Logistic Regression, Decision Tree, Random Forest and the baseline</a:t>
            </a:r>
            <a:endParaRPr lang="en-US" sz="1400" dirty="0"/>
          </a:p>
        </p:txBody>
      </p:sp>
      <p:sp>
        <p:nvSpPr>
          <p:cNvPr id="12" name="split"/>
          <p:cNvSpPr/>
          <p:nvPr/>
        </p:nvSpPr>
        <p:spPr>
          <a:xfrm>
            <a:off x="457200" y="3474720"/>
            <a:ext cx="8229600" cy="1051560"/>
          </a:xfrm>
          <a:prstGeom prst="rect">
            <a:avLst/>
          </a:prstGeom>
          <a:solidFill>
            <a:schemeClr val="tx2"/>
          </a:solidFill>
          <a:ln w="12700">
            <a:solidFill>
              <a:schemeClr val="tx2"/>
            </a:solidFill>
            <a:prstDash val="solid"/>
          </a:ln>
        </p:spPr>
      </p:sp>
      <p:sp>
        <p:nvSpPr>
          <p:cNvPr id="13" name="Text 11"/>
          <p:cNvSpPr txBox="1"/>
          <p:nvPr/>
        </p:nvSpPr>
        <p:spPr>
          <a:xfrm>
            <a:off x="640080" y="3611880"/>
            <a:ext cx="2560320" cy="50292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10,610</a:t>
            </a:r>
            <a:endParaRPr lang="en-US" sz="2800" dirty="0"/>
          </a:p>
        </p:txBody>
      </p:sp>
      <p:sp>
        <p:nvSpPr>
          <p:cNvPr id="14" name="Text 12"/>
          <p:cNvSpPr txBox="1"/>
          <p:nvPr/>
        </p:nvSpPr>
        <p:spPr>
          <a:xfrm>
            <a:off x="640080" y="4114800"/>
            <a:ext cx="2560320" cy="320040"/>
          </a:xfrm>
          <a:prstGeom prst="rect">
            <a:avLst/>
          </a:prstGeom>
          <a:noFill/>
          <a:ln/>
        </p:spPr>
        <p:txBody>
          <a:bodyPr wrap="square" lIns="0" tIns="0" rIns="0" bIns="0" rtlCol="0" anchor="t"/>
          <a:lstStyle/>
          <a:p>
            <a:pPr marL="0" indent="0">
              <a:buNone/>
            </a:pPr>
            <a:r>
              <a:rPr lang="en-US" sz="1300" dirty="0">
                <a:solidFill>
                  <a:schemeClr val="bg1"/>
                </a:solidFill>
              </a:rPr>
              <a:t>training rows</a:t>
            </a:r>
            <a:endParaRPr lang="en-US" sz="1300" dirty="0"/>
          </a:p>
        </p:txBody>
      </p:sp>
      <p:sp>
        <p:nvSpPr>
          <p:cNvPr id="15" name="Text 13"/>
          <p:cNvSpPr txBox="1"/>
          <p:nvPr/>
        </p:nvSpPr>
        <p:spPr>
          <a:xfrm>
            <a:off x="3337560" y="3611880"/>
            <a:ext cx="2560320" cy="50292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2,660</a:t>
            </a:r>
            <a:endParaRPr lang="en-US" sz="2800" dirty="0"/>
          </a:p>
        </p:txBody>
      </p:sp>
      <p:sp>
        <p:nvSpPr>
          <p:cNvPr id="16" name="Text 14"/>
          <p:cNvSpPr txBox="1"/>
          <p:nvPr/>
        </p:nvSpPr>
        <p:spPr>
          <a:xfrm>
            <a:off x="3337560" y="4114800"/>
            <a:ext cx="2560320" cy="320040"/>
          </a:xfrm>
          <a:prstGeom prst="rect">
            <a:avLst/>
          </a:prstGeom>
          <a:noFill/>
          <a:ln/>
        </p:spPr>
        <p:txBody>
          <a:bodyPr wrap="square" lIns="0" tIns="0" rIns="0" bIns="0" rtlCol="0" anchor="t"/>
          <a:lstStyle/>
          <a:p>
            <a:pPr marL="0" indent="0">
              <a:buNone/>
            </a:pPr>
            <a:r>
              <a:rPr lang="en-US" sz="1300" dirty="0">
                <a:solidFill>
                  <a:schemeClr val="bg1"/>
                </a:solidFill>
              </a:rPr>
              <a:t>test rows (from 7 Dec 2025)</a:t>
            </a:r>
            <a:endParaRPr lang="en-US" sz="1300" dirty="0"/>
          </a:p>
        </p:txBody>
      </p:sp>
      <p:sp>
        <p:nvSpPr>
          <p:cNvPr id="17" name="Text 15"/>
          <p:cNvSpPr txBox="1"/>
          <p:nvPr/>
        </p:nvSpPr>
        <p:spPr>
          <a:xfrm>
            <a:off x="6035040" y="3611880"/>
            <a:ext cx="2560320" cy="50292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53</a:t>
            </a:r>
            <a:endParaRPr lang="en-US" sz="2800" dirty="0"/>
          </a:p>
        </p:txBody>
      </p:sp>
      <p:sp>
        <p:nvSpPr>
          <p:cNvPr id="18" name="Text 16"/>
          <p:cNvSpPr txBox="1"/>
          <p:nvPr/>
        </p:nvSpPr>
        <p:spPr>
          <a:xfrm>
            <a:off x="6035040" y="4114800"/>
            <a:ext cx="2560320" cy="320040"/>
          </a:xfrm>
          <a:prstGeom prst="rect">
            <a:avLst/>
          </a:prstGeom>
          <a:noFill/>
          <a:ln/>
        </p:spPr>
        <p:txBody>
          <a:bodyPr wrap="square" lIns="0" tIns="0" rIns="0" bIns="0" rtlCol="0" anchor="t"/>
          <a:lstStyle/>
          <a:p>
            <a:pPr marL="0" indent="0">
              <a:buNone/>
            </a:pPr>
            <a:r>
              <a:rPr lang="en-US" sz="1300" dirty="0">
                <a:solidFill>
                  <a:schemeClr val="bg1"/>
                </a:solidFill>
              </a:rPr>
              <a:t>features (51 + 2 new)</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Weather class results on the test set</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514600"/>
        </p:xfrm>
        <a:graphic>
          <a:graphicData uri="http://schemas.openxmlformats.org/drawingml/2006/table">
            <a:tbl>
              <a:tblPr/>
              <a:tblGrid>
                <a:gridCol w="3657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0292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B3C5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B3C5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F1 (macro)</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lgn="l">
                        <a:buNone/>
                      </a:pPr>
                      <a:r>
                        <a:rPr lang="en-US" sz="1400" b="1" dirty="0">
                          <a:solidFill>
                            <a:srgbClr val="1B2B34"/>
                          </a:solidFill>
                          <a:latin typeface="Calibri" pitchFamily="34" charset="0"/>
                          <a:ea typeface="Calibri" pitchFamily="34" charset="-122"/>
                          <a:cs typeface="Calibri" pitchFamily="34" charset="-120"/>
                        </a:rPr>
                        <a:t>Baseline (tomorrow = today)</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DF0DA"/>
                    </a:solidFill>
                  </a:tcPr>
                </a:tc>
                <a:tc>
                  <a:txBody>
                    <a:bodyPr/>
                    <a:lstStyle/>
                    <a:p>
                      <a:pPr marL="0" indent="0" algn="ctr">
                        <a:buNone/>
                      </a:pPr>
                      <a:r>
                        <a:rPr lang="en-US" sz="1400" b="1" dirty="0">
                          <a:solidFill>
                            <a:srgbClr val="1B2B34"/>
                          </a:solidFill>
                          <a:latin typeface="Calibri" pitchFamily="34" charset="0"/>
                          <a:ea typeface="Calibri" pitchFamily="34" charset="-122"/>
                          <a:cs typeface="Calibri" pitchFamily="34" charset="-120"/>
                        </a:rPr>
                        <a:t>0.850</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DF0DA"/>
                    </a:solidFill>
                  </a:tcPr>
                </a:tc>
                <a:tc>
                  <a:txBody>
                    <a:bodyPr/>
                    <a:lstStyle/>
                    <a:p>
                      <a:pPr marL="0" indent="0" algn="ctr">
                        <a:buNone/>
                      </a:pPr>
                      <a:r>
                        <a:rPr lang="en-US" sz="1400" b="1" dirty="0">
                          <a:solidFill>
                            <a:srgbClr val="1B2B34"/>
                          </a:solidFill>
                          <a:latin typeface="Calibri" pitchFamily="34" charset="0"/>
                          <a:ea typeface="Calibri" pitchFamily="34" charset="-122"/>
                          <a:cs typeface="Calibri" pitchFamily="34" charset="-120"/>
                        </a:rPr>
                        <a:t>0.834</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DF0DA"/>
                    </a:solidFill>
                  </a:tcPr>
                </a:tc>
                <a:extLst>
                  <a:ext uri="{0D108BD9-81ED-4DB2-BD59-A6C34878D82A}">
                    <a16:rowId xmlns:a16="http://schemas.microsoft.com/office/drawing/2014/main" val="10001"/>
                  </a:ext>
                </a:extLst>
              </a:tr>
              <a:tr h="502920">
                <a:tc>
                  <a:txBody>
                    <a:bodyPr/>
                    <a:lstStyle/>
                    <a:p>
                      <a:pPr marL="0" indent="0" algn="l">
                        <a:buNone/>
                      </a:pPr>
                      <a:r>
                        <a:rPr lang="en-US" sz="1400" dirty="0">
                          <a:solidFill>
                            <a:srgbClr val="1B2B34"/>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0.843</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0.831</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400" dirty="0">
                          <a:solidFill>
                            <a:srgbClr val="1B2B34"/>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0.798</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0.781</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400" dirty="0">
                          <a:solidFill>
                            <a:srgbClr val="1B2B34"/>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0.824</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B34"/>
                          </a:solidFill>
                          <a:latin typeface="Calibri" pitchFamily="34" charset="0"/>
                          <a:ea typeface="Calibri" pitchFamily="34" charset="-122"/>
                          <a:cs typeface="Calibri" pitchFamily="34" charset="-120"/>
                        </a:rPr>
                        <a:t>0.810</a:t>
                      </a:r>
                      <a:endParaRPr lang="en-US" sz="1400" dirty="0">
                        <a:latin typeface="Calibri" charset="0"/>
                        <a:ea typeface="Calibri" charset="0"/>
                        <a:cs typeface="Calibri" charset="0"/>
                      </a:endParaRPr>
                    </a:p>
                  </a:txBody>
                  <a:tcPr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rnote"/>
          <p:cNvSpPr/>
          <p:nvPr/>
        </p:nvSpPr>
        <p:spPr>
          <a:xfrm>
            <a:off x="457200" y="3977640"/>
            <a:ext cx="8229600" cy="594360"/>
          </a:xfrm>
          <a:prstGeom prst="rect">
            <a:avLst/>
          </a:prstGeom>
          <a:solidFill>
            <a:schemeClr val="bg2"/>
          </a:solidFill>
          <a:ln w="12700">
            <a:solidFill>
              <a:schemeClr val="bg2"/>
            </a:solidFill>
            <a:prstDash val="solid"/>
          </a:ln>
        </p:spPr>
      </p:sp>
      <p:sp>
        <p:nvSpPr>
          <p:cNvPr id="5" name="Text 2"/>
          <p:cNvSpPr txBox="1"/>
          <p:nvPr/>
        </p:nvSpPr>
        <p:spPr>
          <a:xfrm>
            <a:off x="640080" y="3977640"/>
            <a:ext cx="7863840" cy="594360"/>
          </a:xfrm>
          <a:prstGeom prst="rect">
            <a:avLst/>
          </a:prstGeom>
          <a:noFill/>
          <a:ln/>
        </p:spPr>
        <p:txBody>
          <a:bodyPr wrap="square" lIns="0" tIns="0" rIns="0" bIns="0" rtlCol="0" anchor="ctr"/>
          <a:lstStyle/>
          <a:p>
            <a:pPr marL="0" indent="0">
              <a:buNone/>
            </a:pPr>
            <a:r>
              <a:rPr lang="en-US" sz="1300" dirty="0">
                <a:solidFill>
                  <a:schemeClr val="tx1"/>
                </a:solidFill>
              </a:rPr>
              <a:t>Baseline = "tomorrow's class equals today's". Logistic Regression is the best of the three models, but the baseline is slightly higher.</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Where the best model goes wrong</a:t>
            </a:r>
            <a:endParaRPr lang="en-US" sz="2800" dirty="0"/>
          </a:p>
        </p:txBody>
      </p:sp>
      <p:pic>
        <p:nvPicPr>
          <p:cNvPr id="3" name="Image 0" descr="Confusion matrix for Logistic Regression: actual versus predicted weather class"/>
          <p:cNvPicPr>
            <a:picLocks noChangeAspect="1"/>
          </p:cNvPicPr>
          <p:nvPr/>
        </p:nvPicPr>
        <p:blipFill>
          <a:blip r:embed="rId2"/>
          <a:stretch>
            <a:fillRect/>
          </a:stretch>
        </p:blipFill>
        <p:spPr>
          <a:xfrm>
            <a:off x="963712" y="1188720"/>
            <a:ext cx="3650415" cy="3154680"/>
          </a:xfrm>
          <a:prstGeom prst="rect">
            <a:avLst/>
          </a:prstGeom>
        </p:spPr>
      </p:pic>
      <p:sp>
        <p:nvSpPr>
          <p:cNvPr id="4" name="pt0"/>
          <p:cNvSpPr/>
          <p:nvPr/>
        </p:nvSpPr>
        <p:spPr>
          <a:xfrm>
            <a:off x="5394960" y="1188720"/>
            <a:ext cx="3291840" cy="960120"/>
          </a:xfrm>
          <a:prstGeom prst="rect">
            <a:avLst/>
          </a:prstGeom>
          <a:solidFill>
            <a:schemeClr val="bg2"/>
          </a:solidFill>
          <a:ln w="12700">
            <a:solidFill>
              <a:schemeClr val="bg2"/>
            </a:solidFill>
            <a:prstDash val="solid"/>
          </a:ln>
        </p:spPr>
      </p:sp>
      <p:sp>
        <p:nvSpPr>
          <p:cNvPr id="5" name="Text 2"/>
          <p:cNvSpPr txBox="1"/>
          <p:nvPr/>
        </p:nvSpPr>
        <p:spPr>
          <a:xfrm>
            <a:off x="5532120" y="1280160"/>
            <a:ext cx="3017520" cy="777240"/>
          </a:xfrm>
          <a:prstGeom prst="rect">
            <a:avLst/>
          </a:prstGeom>
          <a:noFill/>
          <a:ln/>
        </p:spPr>
        <p:txBody>
          <a:bodyPr wrap="square" lIns="0" tIns="0" rIns="0" bIns="0" rtlCol="0" anchor="ctr"/>
          <a:lstStyle/>
          <a:p>
            <a:pPr marL="0" indent="0">
              <a:buNone/>
            </a:pPr>
            <a:r>
              <a:rPr lang="en-US" sz="1400" dirty="0">
                <a:solidFill>
                  <a:schemeClr val="tx1"/>
                </a:solidFill>
              </a:rPr>
              <a:t>Cold is easiest (96% correct) and Warm is hardest (73%).</a:t>
            </a:r>
            <a:endParaRPr lang="en-US" sz="1400" dirty="0"/>
          </a:p>
        </p:txBody>
      </p:sp>
      <p:sp>
        <p:nvSpPr>
          <p:cNvPr id="6" name="pt1"/>
          <p:cNvSpPr/>
          <p:nvPr/>
        </p:nvSpPr>
        <p:spPr>
          <a:xfrm>
            <a:off x="5394960" y="2286000"/>
            <a:ext cx="3291840" cy="960120"/>
          </a:xfrm>
          <a:prstGeom prst="rect">
            <a:avLst/>
          </a:prstGeom>
          <a:solidFill>
            <a:schemeClr val="bg2"/>
          </a:solidFill>
          <a:ln w="12700">
            <a:solidFill>
              <a:schemeClr val="bg2"/>
            </a:solidFill>
            <a:prstDash val="solid"/>
          </a:ln>
        </p:spPr>
      </p:sp>
      <p:sp>
        <p:nvSpPr>
          <p:cNvPr id="7" name="Text 4"/>
          <p:cNvSpPr txBox="1"/>
          <p:nvPr/>
        </p:nvSpPr>
        <p:spPr>
          <a:xfrm>
            <a:off x="5532120" y="2377440"/>
            <a:ext cx="3017520" cy="777240"/>
          </a:xfrm>
          <a:prstGeom prst="rect">
            <a:avLst/>
          </a:prstGeom>
          <a:noFill/>
          <a:ln/>
        </p:spPr>
        <p:txBody>
          <a:bodyPr wrap="square" lIns="0" tIns="0" rIns="0" bIns="0" rtlCol="0" anchor="ctr"/>
          <a:lstStyle/>
          <a:p>
            <a:pPr marL="0" indent="0">
              <a:buNone/>
            </a:pPr>
            <a:r>
              <a:rPr lang="en-US" sz="1400" dirty="0">
                <a:solidFill>
                  <a:schemeClr val="tx1"/>
                </a:solidFill>
              </a:rPr>
              <a:t>Almost all mistakes are between neighbouring classes; Cold and Hot are never confused.</a:t>
            </a:r>
            <a:endParaRPr lang="en-US" sz="1400" dirty="0"/>
          </a:p>
        </p:txBody>
      </p:sp>
      <p:sp>
        <p:nvSpPr>
          <p:cNvPr id="8" name="pt2"/>
          <p:cNvSpPr/>
          <p:nvPr/>
        </p:nvSpPr>
        <p:spPr>
          <a:xfrm>
            <a:off x="5394960" y="3383280"/>
            <a:ext cx="3291840" cy="960120"/>
          </a:xfrm>
          <a:prstGeom prst="rect">
            <a:avLst/>
          </a:prstGeom>
          <a:solidFill>
            <a:schemeClr val="bg2"/>
          </a:solidFill>
          <a:ln w="12700">
            <a:solidFill>
              <a:schemeClr val="bg2"/>
            </a:solidFill>
            <a:prstDash val="solid"/>
          </a:ln>
        </p:spPr>
      </p:sp>
      <p:sp>
        <p:nvSpPr>
          <p:cNvPr id="9" name="Text 6"/>
          <p:cNvSpPr txBox="1"/>
          <p:nvPr/>
        </p:nvSpPr>
        <p:spPr>
          <a:xfrm>
            <a:off x="5532120" y="3474720"/>
            <a:ext cx="3017520" cy="777240"/>
          </a:xfrm>
          <a:prstGeom prst="rect">
            <a:avLst/>
          </a:prstGeom>
          <a:noFill/>
          <a:ln/>
        </p:spPr>
        <p:txBody>
          <a:bodyPr wrap="square" lIns="0" tIns="0" rIns="0" bIns="0" rtlCol="0" anchor="ctr"/>
          <a:lstStyle/>
          <a:p>
            <a:pPr marL="0" indent="0">
              <a:buNone/>
            </a:pPr>
            <a:r>
              <a:rPr lang="en-US" sz="1400" dirty="0">
                <a:solidFill>
                  <a:schemeClr val="tx1"/>
                </a:solidFill>
              </a:rPr>
              <a:t>The biggest miss: 167 Hot days predicted as Warm.</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What drives tomorrow's weather class</a:t>
            </a:r>
            <a:endParaRPr lang="en-US" sz="2800" dirty="0"/>
          </a:p>
        </p:txBody>
      </p:sp>
      <p:pic>
        <p:nvPicPr>
          <p:cNvPr id="3" name="Image 0" descr="Top 10 features of the Random Forest weather class model"/>
          <p:cNvPicPr>
            <a:picLocks noChangeAspect="1"/>
          </p:cNvPicPr>
          <p:nvPr/>
        </p:nvPicPr>
        <p:blipFill>
          <a:blip r:embed="rId2"/>
          <a:stretch>
            <a:fillRect/>
          </a:stretch>
        </p:blipFill>
        <p:spPr>
          <a:xfrm>
            <a:off x="457200" y="1147727"/>
            <a:ext cx="4663440" cy="3236665"/>
          </a:xfrm>
          <a:prstGeom prst="rect">
            <a:avLst/>
          </a:prstGeom>
        </p:spPr>
      </p:pic>
      <p:sp>
        <p:nvSpPr>
          <p:cNvPr id="4" name="pt0"/>
          <p:cNvSpPr/>
          <p:nvPr/>
        </p:nvSpPr>
        <p:spPr>
          <a:xfrm>
            <a:off x="5394960" y="1188720"/>
            <a:ext cx="3291840" cy="960120"/>
          </a:xfrm>
          <a:prstGeom prst="rect">
            <a:avLst/>
          </a:prstGeom>
          <a:solidFill>
            <a:schemeClr val="bg2"/>
          </a:solidFill>
          <a:ln w="12700">
            <a:solidFill>
              <a:schemeClr val="bg2"/>
            </a:solidFill>
            <a:prstDash val="solid"/>
          </a:ln>
        </p:spPr>
      </p:sp>
      <p:sp>
        <p:nvSpPr>
          <p:cNvPr id="5" name="Text 2"/>
          <p:cNvSpPr txBox="1"/>
          <p:nvPr/>
        </p:nvSpPr>
        <p:spPr>
          <a:xfrm>
            <a:off x="5532120" y="1280160"/>
            <a:ext cx="3017520" cy="777240"/>
          </a:xfrm>
          <a:prstGeom prst="rect">
            <a:avLst/>
          </a:prstGeom>
          <a:noFill/>
          <a:ln/>
        </p:spPr>
        <p:txBody>
          <a:bodyPr wrap="square" lIns="0" tIns="0" rIns="0" bIns="0" rtlCol="0" anchor="ctr"/>
          <a:lstStyle/>
          <a:p>
            <a:pPr marL="0" indent="0">
              <a:buNone/>
            </a:pPr>
            <a:r>
              <a:rPr lang="en-US" sz="1400" dirty="0">
                <a:solidFill>
                  <a:schemeClr val="tx1"/>
                </a:solidFill>
              </a:rPr>
              <a:t>Today's temperature matters most, then the 3-day average and yesterday's.</a:t>
            </a:r>
            <a:endParaRPr lang="en-US" sz="1400" dirty="0"/>
          </a:p>
        </p:txBody>
      </p:sp>
      <p:sp>
        <p:nvSpPr>
          <p:cNvPr id="6" name="pt1"/>
          <p:cNvSpPr/>
          <p:nvPr/>
        </p:nvSpPr>
        <p:spPr>
          <a:xfrm>
            <a:off x="5394960" y="2286000"/>
            <a:ext cx="3291840" cy="960120"/>
          </a:xfrm>
          <a:prstGeom prst="rect">
            <a:avLst/>
          </a:prstGeom>
          <a:solidFill>
            <a:schemeClr val="bg2"/>
          </a:solidFill>
          <a:ln w="12700">
            <a:solidFill>
              <a:schemeClr val="bg2"/>
            </a:solidFill>
            <a:prstDash val="solid"/>
          </a:ln>
        </p:spPr>
      </p:sp>
      <p:sp>
        <p:nvSpPr>
          <p:cNvPr id="7" name="Text 4"/>
          <p:cNvSpPr txBox="1"/>
          <p:nvPr/>
        </p:nvSpPr>
        <p:spPr>
          <a:xfrm>
            <a:off x="5532120" y="2377440"/>
            <a:ext cx="3017520" cy="777240"/>
          </a:xfrm>
          <a:prstGeom prst="rect">
            <a:avLst/>
          </a:prstGeom>
          <a:noFill/>
          <a:ln/>
        </p:spPr>
        <p:txBody>
          <a:bodyPr wrap="square" lIns="0" tIns="0" rIns="0" bIns="0" rtlCol="0" anchor="ctr"/>
          <a:lstStyle/>
          <a:p>
            <a:pPr marL="0" indent="0">
              <a:buNone/>
            </a:pPr>
            <a:r>
              <a:rPr lang="en-US" sz="1400" dirty="0">
                <a:solidFill>
                  <a:schemeClr val="tx1"/>
                </a:solidFill>
              </a:rPr>
              <a:t>Month adds the seasonal pattern; rain, humidity and wind matter much less.</a:t>
            </a:r>
            <a:endParaRPr lang="en-US" sz="1400" dirty="0"/>
          </a:p>
        </p:txBody>
      </p:sp>
      <p:sp>
        <p:nvSpPr>
          <p:cNvPr id="8" name="pt2"/>
          <p:cNvSpPr/>
          <p:nvPr/>
        </p:nvSpPr>
        <p:spPr>
          <a:xfrm>
            <a:off x="5394960" y="3383280"/>
            <a:ext cx="3291840" cy="960120"/>
          </a:xfrm>
          <a:prstGeom prst="rect">
            <a:avLst/>
          </a:prstGeom>
          <a:solidFill>
            <a:schemeClr val="bg2"/>
          </a:solidFill>
          <a:ln w="12700">
            <a:solidFill>
              <a:schemeClr val="bg2"/>
            </a:solidFill>
            <a:prstDash val="solid"/>
          </a:ln>
        </p:spPr>
      </p:sp>
      <p:sp>
        <p:nvSpPr>
          <p:cNvPr id="9" name="Text 6"/>
          <p:cNvSpPr txBox="1"/>
          <p:nvPr/>
        </p:nvSpPr>
        <p:spPr>
          <a:xfrm>
            <a:off x="5532120" y="3474720"/>
            <a:ext cx="3017520" cy="777240"/>
          </a:xfrm>
          <a:prstGeom prst="rect">
            <a:avLst/>
          </a:prstGeom>
          <a:noFill/>
          <a:ln/>
        </p:spPr>
        <p:txBody>
          <a:bodyPr wrap="square" lIns="0" tIns="0" rIns="0" bIns="0" rtlCol="0" anchor="ctr"/>
          <a:lstStyle/>
          <a:p>
            <a:pPr marL="0" indent="0">
              <a:buNone/>
            </a:pPr>
            <a:r>
              <a:rPr lang="en-US" sz="1400" dirty="0">
                <a:solidFill>
                  <a:schemeClr val="tx1"/>
                </a:solidFill>
              </a:rPr>
              <a:t>Next-day forecast (30 Aug 2026 data): all 10 stations stay in their current class.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bg1"/>
                </a:solidFill>
              </a:rPr>
              <a:t>Conclusion</a:t>
            </a:r>
            <a:endParaRPr lang="en-US" sz="2800" dirty="0"/>
          </a:p>
        </p:txBody>
      </p:sp>
      <p:sp>
        <p:nvSpPr>
          <p:cNvPr id="3" name="concl"/>
          <p:cNvSpPr/>
          <p:nvPr/>
        </p:nvSpPr>
        <p:spPr>
          <a:xfrm>
            <a:off x="457200" y="1188720"/>
            <a:ext cx="8229600" cy="3383280"/>
          </a:xfrm>
          <a:prstGeom prst="rect">
            <a:avLst/>
          </a:prstGeom>
          <a:solidFill>
            <a:schemeClr val="bg2"/>
          </a:solidFill>
          <a:ln w="12700">
            <a:solidFill>
              <a:schemeClr val="bg2"/>
            </a:solidFill>
            <a:prstDash val="solid"/>
          </a:ln>
        </p:spPr>
      </p:sp>
      <p:sp>
        <p:nvSpPr>
          <p:cNvPr id="4" name="Text 2"/>
          <p:cNvSpPr txBox="1"/>
          <p:nvPr/>
        </p:nvSpPr>
        <p:spPr>
          <a:xfrm>
            <a:off x="731520" y="1371600"/>
            <a:ext cx="768096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Next-day river discharge can be predicted from weather, soil moisture and recent flow, with R² above 0.9.</a:t>
            </a:r>
            <a:endParaRPr lang="en-US" sz="1400" dirty="0"/>
          </a:p>
          <a:p>
            <a:pPr marL="342900" indent="-342900">
              <a:spcAft>
                <a:spcPts val="600"/>
              </a:spcAft>
              <a:buSzPct val="100000"/>
              <a:buChar char="•"/>
            </a:pPr>
            <a:r>
              <a:rPr lang="en-US" sz="1400" dirty="0">
                <a:solidFill>
                  <a:schemeClr val="tx1"/>
                </a:solidFill>
              </a:rPr>
              <a:t>Random Forest is the best model for discharge: MAE 2.49 m³/s, RMSE 17.39 m³/s, R² 0.913.</a:t>
            </a:r>
            <a:endParaRPr lang="en-US" sz="1400" dirty="0"/>
          </a:p>
          <a:p>
            <a:pPr marL="342900" indent="-342900">
              <a:spcAft>
                <a:spcPts val="600"/>
              </a:spcAft>
              <a:buSzPct val="100000"/>
              <a:buChar char="•"/>
            </a:pPr>
            <a:r>
              <a:rPr lang="en-US" sz="1400" dirty="0">
                <a:solidFill>
                  <a:schemeClr val="tx1"/>
                </a:solidFill>
              </a:rPr>
              <a:t>Next-day weather class (Cold, Cool, Warm, Hot) can also be predicted: Logistic Regression is best, with 84.3% accuracy and macro F1 0.831.</a:t>
            </a:r>
            <a:endParaRPr lang="en-US" sz="1400" dirty="0"/>
          </a:p>
          <a:p>
            <a:pPr marL="342900" indent="-342900">
              <a:spcAft>
                <a:spcPts val="600"/>
              </a:spcAft>
              <a:buSzPct val="100000"/>
              <a:buChar char="•"/>
            </a:pPr>
            <a:r>
              <a:rPr lang="en-US" sz="1400" dirty="0">
                <a:solidFill>
                  <a:schemeClr val="tx1"/>
                </a:solidFill>
              </a:rPr>
              <a:t>In both parts the "tomorrow = today" baseline is slightly better than every model (discharge MAE 1.97, R² 0.942; weather accuracy 85.0%).</a:t>
            </a:r>
            <a:endParaRPr lang="en-US" sz="1400" dirty="0"/>
          </a:p>
          <a:p>
            <a:pPr marL="342900" indent="-342900">
              <a:spcAft>
                <a:spcPts val="600"/>
              </a:spcAft>
              <a:buSzPct val="100000"/>
              <a:buChar char="•"/>
            </a:pPr>
            <a:r>
              <a:rPr lang="en-US" sz="1400" dirty="0">
                <a:solidFill>
                  <a:schemeClr val="tx1"/>
                </a:solidFill>
              </a:rPr>
              <a:t>Today's discharge holds about 82% of the discharge model's importance; for weather, today's temperature and the recent trend matter most.</a:t>
            </a:r>
            <a:endParaRPr lang="en-US" sz="1400" dirty="0"/>
          </a:p>
          <a:p>
            <a:pPr marL="342900" indent="-342900">
              <a:spcAft>
                <a:spcPts val="600"/>
              </a:spcAft>
              <a:buSzPct val="100000"/>
              <a:buChar char="•"/>
            </a:pPr>
            <a:r>
              <a:rPr lang="en-US" sz="1400" dirty="0">
                <a:solidFill>
                  <a:schemeClr val="tx1"/>
                </a:solidFill>
              </a:rPr>
              <a:t>Discharge errors are largest on extreme flood days: MAE 109.2 m³/s on the 10 highest days vs 2.49 overall.</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D2905-31E5-687D-781A-D7577DFCE3F0}"/>
            </a:ext>
          </a:extLst>
        </p:cNvPr>
        <p:cNvGrpSpPr/>
        <p:nvPr/>
      </p:nvGrpSpPr>
      <p:grpSpPr>
        <a:xfrm>
          <a:off x="0" y="0"/>
          <a:ext cx="0" cy="0"/>
          <a:chOff x="0" y="0"/>
          <a:chExt cx="0" cy="0"/>
        </a:xfrm>
      </p:grpSpPr>
      <p:sp>
        <p:nvSpPr>
          <p:cNvPr id="3" name="concl">
            <a:extLst>
              <a:ext uri="{FF2B5EF4-FFF2-40B4-BE49-F238E27FC236}">
                <a16:creationId xmlns:a16="http://schemas.microsoft.com/office/drawing/2014/main" id="{C18A9D7D-2AC7-2A88-B210-5715056DEA35}"/>
              </a:ext>
            </a:extLst>
          </p:cNvPr>
          <p:cNvSpPr/>
          <p:nvPr/>
        </p:nvSpPr>
        <p:spPr>
          <a:xfrm>
            <a:off x="457200" y="770206"/>
            <a:ext cx="8229600" cy="3383280"/>
          </a:xfrm>
          <a:prstGeom prst="rect">
            <a:avLst/>
          </a:prstGeom>
          <a:solidFill>
            <a:schemeClr val="bg2"/>
          </a:solidFill>
          <a:ln w="12700">
            <a:solidFill>
              <a:schemeClr val="bg2"/>
            </a:solidFill>
            <a:prstDash val="solid"/>
          </a:ln>
        </p:spPr>
      </p:sp>
      <p:sp>
        <p:nvSpPr>
          <p:cNvPr id="25" name="Slide Number Placeholder 0">
            <a:extLst>
              <a:ext uri="{FF2B5EF4-FFF2-40B4-BE49-F238E27FC236}">
                <a16:creationId xmlns:a16="http://schemas.microsoft.com/office/drawing/2014/main" id="{438A0292-9CAA-63D1-2A54-1C60CF9E2653}"/>
              </a:ext>
            </a:extLst>
          </p:cNvPr>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19</a:t>
            </a:fld>
            <a:endParaRPr lang="en-US"/>
          </a:p>
        </p:txBody>
      </p:sp>
      <p:sp>
        <p:nvSpPr>
          <p:cNvPr id="6" name="Title 5">
            <a:extLst>
              <a:ext uri="{FF2B5EF4-FFF2-40B4-BE49-F238E27FC236}">
                <a16:creationId xmlns:a16="http://schemas.microsoft.com/office/drawing/2014/main" id="{69DEA159-C60C-0335-F215-20B1D829425F}"/>
              </a:ext>
            </a:extLst>
          </p:cNvPr>
          <p:cNvSpPr>
            <a:spLocks noGrp="1"/>
          </p:cNvSpPr>
          <p:nvPr>
            <p:ph type="title" idx="100"/>
          </p:nvPr>
        </p:nvSpPr>
        <p:spPr>
          <a:xfrm>
            <a:off x="2366889" y="2096086"/>
            <a:ext cx="4410221" cy="731520"/>
          </a:xfrm>
        </p:spPr>
        <p:txBody>
          <a:bodyPr/>
          <a:lstStyle/>
          <a:p>
            <a:r>
              <a:rPr lang="en-US" sz="4800" dirty="0">
                <a:solidFill>
                  <a:srgbClr val="002060"/>
                </a:solidFill>
              </a:rPr>
              <a:t>THANK YOU</a:t>
            </a:r>
            <a:endParaRPr lang="en-IN" sz="4800" dirty="0">
              <a:solidFill>
                <a:srgbClr val="002060"/>
              </a:solidFill>
            </a:endParaRPr>
          </a:p>
        </p:txBody>
      </p:sp>
    </p:spTree>
    <p:extLst>
      <p:ext uri="{BB962C8B-B14F-4D97-AF65-F5344CB8AC3E}">
        <p14:creationId xmlns:p14="http://schemas.microsoft.com/office/powerpoint/2010/main" val="1737278048"/>
      </p:ext>
    </p:extLst>
  </p:cSld>
  <p:clrMapOvr>
    <a:masterClrMapping/>
  </p:clrMapOvr>
</p:sld>
</file>

<file path=ppt/theme/theme1.xml><?xml version="1.0" encoding="utf-8"?>
<a:theme xmlns:a="http://schemas.openxmlformats.org/drawingml/2006/main" name="Flood Analysis">
  <a:themeElements>
    <a:clrScheme name="Flood Analysis">
      <a:dk1>
        <a:srgbClr val="1B2B34"/>
      </a:dk1>
      <a:lt1>
        <a:srgbClr val="FFFFFF"/>
      </a:lt1>
      <a:dk2>
        <a:srgbClr val="0B3C5D"/>
      </a:dk2>
      <a:lt2>
        <a:srgbClr val="EAF2F6"/>
      </a:lt2>
      <a:accent1>
        <a:srgbClr val="1D7A8C"/>
      </a:accent1>
      <a:accent2>
        <a:srgbClr val="F2A541"/>
      </a:accent2>
      <a:accent3>
        <a:srgbClr val="D1495B"/>
      </a:accent3>
      <a:accent4>
        <a:srgbClr val="5B8E7D"/>
      </a:accent4>
      <a:accent5>
        <a:srgbClr val="7A9CB5"/>
      </a:accent5>
      <a:accent6>
        <a:srgbClr val="0B3C5D"/>
      </a:accent6>
      <a:hlink>
        <a:srgbClr val="1D7A8C"/>
      </a:hlink>
      <a:folHlink>
        <a:srgbClr val="5C6F7A"/>
      </a:folHlink>
    </a:clrScheme>
    <a:fontScheme name="Flood Analy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1254</Words>
  <Application>Microsoft Office PowerPoint</Application>
  <PresentationFormat>On-screen Show (16:9)</PresentationFormat>
  <Paragraphs>217</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Flood Analysis</vt:lpstr>
      <vt:lpstr>Nepal Flood &amp; Weather Analysis Next‑Day River Discharge and Weather Prediction</vt:lpstr>
      <vt:lpstr>The dataset: 10 stations, daily records</vt:lpstr>
      <vt:lpstr>Project workflow : Next day river discharge</vt:lpstr>
      <vt:lpstr>Discharge is extremely skewed</vt:lpstr>
      <vt:lpstr>The monsoon drives the flow</vt:lpstr>
      <vt:lpstr>Same-day weather is only a weak signal</vt:lpstr>
      <vt:lpstr>Feature engineering and a time-based split</vt:lpstr>
      <vt:lpstr>How we measure model performance</vt:lpstr>
      <vt:lpstr>Model results on the test set</vt:lpstr>
      <vt:lpstr>Which model is best, and why?</vt:lpstr>
      <vt:lpstr>A strong benchmark: persistence</vt:lpstr>
      <vt:lpstr>Feature importance: today's discharge dominates</vt:lpstr>
      <vt:lpstr>Accuracy on typical days and flood peaks</vt:lpstr>
      <vt:lpstr>workflow  : next-day weather class</vt:lpstr>
      <vt:lpstr>Weather class results on the test set</vt:lpstr>
      <vt:lpstr>Where the best model goes wrong</vt:lpstr>
      <vt:lpstr>What drives tomorrow's weather class</vt:lpstr>
      <vt:lpstr>Conclusion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Nepal Flood &amp; Weather Analysis: Next-Day River Discharge Prediction</dc:title>
  <dc:subject>PptxGenJS Presentation</dc:subject>
  <dc:creator>PptxGenJS</dc:creator>
  <cp:lastModifiedBy>Prajul MC</cp:lastModifiedBy>
  <cp:revision>2</cp:revision>
  <dcterms:created xsi:type="dcterms:W3CDTF">2026-10-16T05:48:21Z</dcterms:created>
  <dcterms:modified xsi:type="dcterms:W3CDTF">2026-10-21T20:39:55Z</dcterms:modified>
</cp:coreProperties>
</file>